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875" r:id="rId1"/>
  </p:sldMasterIdLst>
  <p:notesMasterIdLst>
    <p:notesMasterId r:id="rId18"/>
  </p:notesMasterIdLst>
  <p:sldIdLst>
    <p:sldId id="257" r:id="rId2"/>
    <p:sldId id="344" r:id="rId3"/>
    <p:sldId id="394" r:id="rId4"/>
    <p:sldId id="410" r:id="rId5"/>
    <p:sldId id="409" r:id="rId6"/>
    <p:sldId id="411" r:id="rId7"/>
    <p:sldId id="405" r:id="rId9"/>
    <p:sldId id="406" r:id="rId10"/>
    <p:sldId id="412" r:id="rId12"/>
    <p:sldId id="413" r:id="rId13"/>
    <p:sldId id="365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323"/>
    <a:srgbClr val="FF0000"/>
    <a:srgbClr val="F63B00"/>
    <a:srgbClr val="FF3399"/>
    <a:srgbClr val="FF9900"/>
    <a:srgbClr val="FF7171"/>
    <a:srgbClr val="F36E53"/>
    <a:srgbClr val="FF9797"/>
    <a:srgbClr val="FF4F4F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Style moyen 4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2336" autoAdjust="0"/>
  </p:normalViewPr>
  <p:slideViewPr>
    <p:cSldViewPr>
      <p:cViewPr varScale="1">
        <p:scale>
          <a:sx n="88" d="100"/>
          <a:sy n="88" d="100"/>
        </p:scale>
        <p:origin x="72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file:///C:\STATISTIQUES\STATS%202026\Conjoncture\Trim%20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pPr>
            <a:r>
              <a:rPr lang="en-US"/>
              <a:t>Analyse infraannuelle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2025</c:v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Sheet1!$L$47:$P$47</c:f>
              <c:strCache>
                <c:ptCount val="5"/>
                <c:pt idx="0">
                  <c:v>Janvier</c:v>
                </c:pt>
                <c:pt idx="1">
                  <c:v>Février</c:v>
                </c:pt>
                <c:pt idx="2">
                  <c:v>Mars</c:v>
                </c:pt>
                <c:pt idx="3">
                  <c:v>Avril</c:v>
                </c:pt>
                <c:pt idx="4">
                  <c:v>Mai</c:v>
                </c:pt>
              </c:strCache>
            </c:strRef>
          </c:cat>
          <c:val>
            <c:numRef>
              <c:f>Sheet1!$D$60:$H$60</c:f>
              <c:numCache>
                <c:formatCode>#,##0</c:formatCode>
                <c:ptCount val="5"/>
                <c:pt idx="0">
                  <c:v>926390801</c:v>
                </c:pt>
                <c:pt idx="1">
                  <c:v>755562656</c:v>
                </c:pt>
                <c:pt idx="2">
                  <c:v>885322678</c:v>
                </c:pt>
                <c:pt idx="3">
                  <c:v>671717094</c:v>
                </c:pt>
                <c:pt idx="4">
                  <c:v>583849262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20-4165-BF06-F9A0808F1539}"/>
            </c:ext>
          </c:extLst>
        </c:ser>
        <c:ser>
          <c:idx val="1"/>
          <c:order val="1"/>
          <c:tx>
            <c:v>2026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Sheet1!$L$47:$P$47</c:f>
              <c:strCache>
                <c:ptCount val="5"/>
                <c:pt idx="0">
                  <c:v>Janvier</c:v>
                </c:pt>
                <c:pt idx="1">
                  <c:v>Février</c:v>
                </c:pt>
                <c:pt idx="2">
                  <c:v>Mars</c:v>
                </c:pt>
                <c:pt idx="3">
                  <c:v>Avril</c:v>
                </c:pt>
                <c:pt idx="4">
                  <c:v>Mai</c:v>
                </c:pt>
              </c:strCache>
            </c:strRef>
          </c:cat>
          <c:val>
            <c:numRef>
              <c:f>Sheet1!$L$60:$P$60</c:f>
              <c:numCache>
                <c:formatCode>#,##0</c:formatCode>
                <c:ptCount val="5"/>
                <c:pt idx="0">
                  <c:v>919998778</c:v>
                </c:pt>
                <c:pt idx="1">
                  <c:v>1201615490</c:v>
                </c:pt>
                <c:pt idx="2">
                  <c:v>902115151</c:v>
                </c:pt>
                <c:pt idx="3">
                  <c:v>928482131</c:v>
                </c:pt>
                <c:pt idx="4">
                  <c:v>696256646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20-4165-BF06-F9A0808F15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96443375"/>
        <c:axId val="495829679"/>
      </c:lineChart>
      <c:catAx>
        <c:axId val="49644337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495829679"/>
        <c:crosses val="autoZero"/>
        <c:auto val="1"/>
        <c:lblAlgn val="ctr"/>
        <c:lblOffset val="100"/>
        <c:noMultiLvlLbl val="0"/>
      </c:catAx>
      <c:valAx>
        <c:axId val="4958296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496443375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sz="1800" b="1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3B191A-7878-419A-BD56-763818A11372}" type="doc">
      <dgm:prSet loTypeId="urn:microsoft.com/office/officeart/2005/8/layout/chevron2" loCatId="process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fr-FR"/>
        </a:p>
      </dgm:t>
    </dgm:pt>
    <dgm:pt modelId="{32C60D9B-B848-419B-9EE9-314FFE525A1E}">
      <dgm:prSet phldrT="[Texte]" custT="1"/>
      <dgm:spPr/>
      <dgm:t>
        <a:bodyPr/>
        <a:lstStyle/>
        <a:p>
          <a:r>
            <a:rPr lang="fr-FR" sz="2800" b="1" dirty="0"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</a:p>
      </dgm:t>
    </dgm:pt>
    <dgm:pt modelId="{491E0DD7-5A41-44DC-B285-EE580C5BED1B}" type="parTrans" cxnId="{15A6F276-BF2A-4DE6-94AB-6B919B82D1F0}">
      <dgm:prSet/>
      <dgm:spPr/>
      <dgm:t>
        <a:bodyPr/>
        <a:lstStyle/>
        <a:p>
          <a:endParaRPr lang="fr-FR" sz="28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3897D86-BFDE-4A11-8979-8218E83AE8C5}" type="sibTrans" cxnId="{15A6F276-BF2A-4DE6-94AB-6B919B82D1F0}">
      <dgm:prSet/>
      <dgm:spPr/>
      <dgm:t>
        <a:bodyPr/>
        <a:lstStyle/>
        <a:p>
          <a:endParaRPr lang="fr-FR" sz="28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CBBCEF0-F5D5-4C4E-8207-9BD1A9E6FBE6}">
      <dgm:prSet phldrT="[Texte]" custT="1"/>
      <dgm:spPr/>
      <dgm:t>
        <a:bodyPr/>
        <a:lstStyle/>
        <a:p>
          <a:r>
            <a:rPr lang="fr-FR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EVALUATION DE LA PERFORMANCE A MIS PARS COURS</a:t>
          </a:r>
        </a:p>
      </dgm:t>
    </dgm:pt>
    <dgm:pt modelId="{45BDD4BF-9D68-45AD-BF75-44564C4F51F3}" type="parTrans" cxnId="{DDEA35D7-F70E-419F-ADA6-91435FF1A059}">
      <dgm:prSet/>
      <dgm:spPr/>
      <dgm:t>
        <a:bodyPr/>
        <a:lstStyle/>
        <a:p>
          <a:endParaRPr lang="fr-FR" sz="28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7814B87-0A15-4724-A0CB-A8D09C7FFB6C}" type="sibTrans" cxnId="{DDEA35D7-F70E-419F-ADA6-91435FF1A059}">
      <dgm:prSet/>
      <dgm:spPr/>
      <dgm:t>
        <a:bodyPr/>
        <a:lstStyle/>
        <a:p>
          <a:endParaRPr lang="fr-FR" sz="28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55521ED-3745-4B17-B9F9-BE0C75CF1527}">
      <dgm:prSet phldrT="[Texte]" custT="1"/>
      <dgm:spPr/>
      <dgm:t>
        <a:bodyPr/>
        <a:lstStyle/>
        <a:p>
          <a:r>
            <a:rPr lang="fr-CM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EVALUATION DES EMISSIONS</a:t>
          </a:r>
          <a:endParaRPr lang="fr-FR" sz="20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C8B409-068D-46BF-B77D-9A5A760BE43D}" type="parTrans" cxnId="{0750BCCA-FF33-4B96-9481-6959D0165135}">
      <dgm:prSet/>
      <dgm:spPr/>
      <dgm:t>
        <a:bodyPr/>
        <a:lstStyle/>
        <a:p>
          <a:endParaRPr lang="fr-FR" sz="28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33AD3C5-A672-4C7E-867F-897B433F8B12}" type="sibTrans" cxnId="{0750BCCA-FF33-4B96-9481-6959D0165135}">
      <dgm:prSet/>
      <dgm:spPr/>
      <dgm:t>
        <a:bodyPr/>
        <a:lstStyle/>
        <a:p>
          <a:endParaRPr lang="fr-FR" sz="28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42BA158-7A75-41C0-BFDB-C04A756EC841}">
      <dgm:prSet phldrT="[Texte]" custT="1"/>
      <dgm:spPr/>
      <dgm:t>
        <a:bodyPr/>
        <a:lstStyle/>
        <a:p>
          <a:r>
            <a:rPr lang="fr-FR" sz="2800" b="1" dirty="0"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</a:p>
      </dgm:t>
    </dgm:pt>
    <dgm:pt modelId="{F5F43156-379D-488A-AAFB-36A223753B06}" type="sibTrans" cxnId="{A56964AB-A900-4B29-85A1-126DBC892CD1}">
      <dgm:prSet/>
      <dgm:spPr/>
      <dgm:t>
        <a:bodyPr/>
        <a:lstStyle/>
        <a:p>
          <a:endParaRPr lang="fr-FR" sz="28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18B06B2-914C-4E3D-AD78-ADA42784F03F}" type="parTrans" cxnId="{A56964AB-A900-4B29-85A1-126DBC892CD1}">
      <dgm:prSet/>
      <dgm:spPr/>
      <dgm:t>
        <a:bodyPr/>
        <a:lstStyle/>
        <a:p>
          <a:endParaRPr lang="fr-FR" sz="28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6615F09-48C4-47C8-9801-A9B6F3976A74}">
      <dgm:prSet phldrT="[Texte]" custT="1"/>
      <dgm:spPr/>
      <dgm:t>
        <a:bodyPr/>
        <a:lstStyle/>
        <a:p>
          <a:r>
            <a:rPr lang="fr-FR" sz="2800" b="1" dirty="0">
              <a:latin typeface="Times New Roman" panose="02020603050405020304" pitchFamily="18" charset="0"/>
              <a:cs typeface="Times New Roman" panose="02020603050405020304" pitchFamily="18" charset="0"/>
            </a:rPr>
            <a:t>4</a:t>
          </a:r>
        </a:p>
      </dgm:t>
    </dgm:pt>
    <dgm:pt modelId="{6FD58897-234B-4194-87BB-96C6861F1EB1}" type="parTrans" cxnId="{C5B8C928-60A6-42DC-91FD-DE10C852BE59}">
      <dgm:prSet/>
      <dgm:spPr/>
      <dgm:t>
        <a:bodyPr/>
        <a:lstStyle/>
        <a:p>
          <a:endParaRPr lang="fr-FR" sz="2800" b="1"/>
        </a:p>
      </dgm:t>
    </dgm:pt>
    <dgm:pt modelId="{98730C42-3E29-40E5-B79D-4D27E6F11E56}" type="sibTrans" cxnId="{C5B8C928-60A6-42DC-91FD-DE10C852BE59}">
      <dgm:prSet/>
      <dgm:spPr/>
      <dgm:t>
        <a:bodyPr/>
        <a:lstStyle/>
        <a:p>
          <a:endParaRPr lang="fr-FR" sz="2800" b="1"/>
        </a:p>
      </dgm:t>
    </dgm:pt>
    <dgm:pt modelId="{D754DCA8-7D78-4817-AF7D-31345D9997C8}">
      <dgm:prSet phldrT="[Texte]" custT="1"/>
      <dgm:spPr/>
      <dgm:t>
        <a:bodyPr/>
        <a:lstStyle/>
        <a:p>
          <a:r>
            <a:rPr lang="fr-FR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EVALUATION DE L’ACTIVITE</a:t>
          </a:r>
        </a:p>
      </dgm:t>
    </dgm:pt>
    <dgm:pt modelId="{3A64F6B4-442C-4049-961E-CCA3D9A68D1F}" type="parTrans" cxnId="{A4E4DF1E-07F2-4693-850E-ABC7F467E6F8}">
      <dgm:prSet/>
      <dgm:spPr/>
      <dgm:t>
        <a:bodyPr/>
        <a:lstStyle/>
        <a:p>
          <a:endParaRPr lang="fr-FR" sz="2800" b="1"/>
        </a:p>
      </dgm:t>
    </dgm:pt>
    <dgm:pt modelId="{C48243CF-86BB-4057-8D1B-C85AC4860B54}" type="sibTrans" cxnId="{A4E4DF1E-07F2-4693-850E-ABC7F467E6F8}">
      <dgm:prSet/>
      <dgm:spPr/>
      <dgm:t>
        <a:bodyPr/>
        <a:lstStyle/>
        <a:p>
          <a:endParaRPr lang="fr-FR" sz="2800" b="1"/>
        </a:p>
      </dgm:t>
    </dgm:pt>
    <dgm:pt modelId="{683AB09F-1707-4596-A1F0-94CB0CF5F065}">
      <dgm:prSet phldrT="[Texte]" custT="1"/>
      <dgm:spPr/>
      <dgm:t>
        <a:bodyPr/>
        <a:lstStyle/>
        <a:p>
          <a:r>
            <a:rPr lang="fr-FR" sz="2800" b="1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  <a:endParaRPr lang="fr-FR" sz="28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BDC371D-FEF3-406A-AA78-A99475DD09EB}" type="parTrans" cxnId="{1326F7EA-4036-4FB7-A57E-AE3106F41875}">
      <dgm:prSet/>
      <dgm:spPr/>
      <dgm:t>
        <a:bodyPr/>
        <a:lstStyle/>
        <a:p>
          <a:endParaRPr lang="en-GB" sz="2800" b="1"/>
        </a:p>
      </dgm:t>
    </dgm:pt>
    <dgm:pt modelId="{45F3D0AE-3D21-435F-AE78-A8BEAA70EE3F}" type="sibTrans" cxnId="{1326F7EA-4036-4FB7-A57E-AE3106F41875}">
      <dgm:prSet/>
      <dgm:spPr/>
      <dgm:t>
        <a:bodyPr/>
        <a:lstStyle/>
        <a:p>
          <a:endParaRPr lang="en-GB" sz="2800" b="1"/>
        </a:p>
      </dgm:t>
    </dgm:pt>
    <dgm:pt modelId="{808FCE2F-9A0E-4BE4-9404-AE421BB86F7E}">
      <dgm:prSet phldrT="[Texte]" custT="1"/>
      <dgm:spPr/>
      <dgm:t>
        <a:bodyPr/>
        <a:lstStyle/>
        <a:p>
          <a:r>
            <a:rPr lang="fr-FR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TAUX DE DECLARATION</a:t>
          </a:r>
        </a:p>
      </dgm:t>
    </dgm:pt>
    <dgm:pt modelId="{1E024D1E-84BA-4230-B56E-B25A3794CFA3}" type="parTrans" cxnId="{D1A8BF1E-0D78-4ABF-ABDD-000527D055CF}">
      <dgm:prSet/>
      <dgm:spPr/>
      <dgm:t>
        <a:bodyPr/>
        <a:lstStyle/>
        <a:p>
          <a:endParaRPr lang="en-GB" sz="2800" b="1"/>
        </a:p>
      </dgm:t>
    </dgm:pt>
    <dgm:pt modelId="{CE37F20F-1EDC-4A4B-AAC3-98E067629DB1}" type="sibTrans" cxnId="{D1A8BF1E-0D78-4ABF-ABDD-000527D055CF}">
      <dgm:prSet/>
      <dgm:spPr/>
      <dgm:t>
        <a:bodyPr/>
        <a:lstStyle/>
        <a:p>
          <a:endParaRPr lang="en-GB" sz="2800" b="1"/>
        </a:p>
      </dgm:t>
    </dgm:pt>
    <dgm:pt modelId="{4D552624-194D-4340-9545-6048B19E6CC3}" type="pres">
      <dgm:prSet presAssocID="{2C3B191A-7878-419A-BD56-763818A11372}" presName="linearFlow" presStyleCnt="0">
        <dgm:presLayoutVars>
          <dgm:dir/>
          <dgm:animLvl val="lvl"/>
          <dgm:resizeHandles val="exact"/>
        </dgm:presLayoutVars>
      </dgm:prSet>
      <dgm:spPr/>
    </dgm:pt>
    <dgm:pt modelId="{4748B268-35F2-460F-9446-64A31C558A6A}" type="pres">
      <dgm:prSet presAssocID="{32C60D9B-B848-419B-9EE9-314FFE525A1E}" presName="composite" presStyleCnt="0"/>
      <dgm:spPr/>
    </dgm:pt>
    <dgm:pt modelId="{A1788923-0D16-450B-A92C-4C03C043C528}" type="pres">
      <dgm:prSet presAssocID="{32C60D9B-B848-419B-9EE9-314FFE525A1E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A297D9C6-E178-4C73-97AB-07E9BE8F51A0}" type="pres">
      <dgm:prSet presAssocID="{32C60D9B-B848-419B-9EE9-314FFE525A1E}" presName="descendantText" presStyleLbl="alignAcc1" presStyleIdx="0" presStyleCnt="4">
        <dgm:presLayoutVars>
          <dgm:bulletEnabled val="1"/>
        </dgm:presLayoutVars>
      </dgm:prSet>
      <dgm:spPr/>
    </dgm:pt>
    <dgm:pt modelId="{DB821D4A-5D03-450B-AAD7-7D3A19CB2918}" type="pres">
      <dgm:prSet presAssocID="{03897D86-BFDE-4A11-8979-8218E83AE8C5}" presName="sp" presStyleCnt="0"/>
      <dgm:spPr/>
    </dgm:pt>
    <dgm:pt modelId="{9E044123-E82D-448C-8CA9-3E9ECF4B4DC6}" type="pres">
      <dgm:prSet presAssocID="{B42BA158-7A75-41C0-BFDB-C04A756EC841}" presName="composite" presStyleCnt="0"/>
      <dgm:spPr/>
    </dgm:pt>
    <dgm:pt modelId="{95F297E8-FA90-462D-88D1-B399037FD7DD}" type="pres">
      <dgm:prSet presAssocID="{B42BA158-7A75-41C0-BFDB-C04A756EC841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15DBE93C-F32A-408E-8276-96850E638E9F}" type="pres">
      <dgm:prSet presAssocID="{B42BA158-7A75-41C0-BFDB-C04A756EC841}" presName="descendantText" presStyleLbl="alignAcc1" presStyleIdx="1" presStyleCnt="4" custLinFactNeighborX="-113" custLinFactNeighborY="-11546">
        <dgm:presLayoutVars>
          <dgm:bulletEnabled val="1"/>
        </dgm:presLayoutVars>
      </dgm:prSet>
      <dgm:spPr/>
    </dgm:pt>
    <dgm:pt modelId="{909C8163-F175-43CF-9D82-93251EE0128F}" type="pres">
      <dgm:prSet presAssocID="{F5F43156-379D-488A-AAFB-36A223753B06}" presName="sp" presStyleCnt="0"/>
      <dgm:spPr/>
    </dgm:pt>
    <dgm:pt modelId="{626CE7B1-51A5-4453-84C2-F2AE4A806F0D}" type="pres">
      <dgm:prSet presAssocID="{683AB09F-1707-4596-A1F0-94CB0CF5F065}" presName="composite" presStyleCnt="0"/>
      <dgm:spPr/>
    </dgm:pt>
    <dgm:pt modelId="{E3A93419-6512-4398-9D31-168A1B1E4A26}" type="pres">
      <dgm:prSet presAssocID="{683AB09F-1707-4596-A1F0-94CB0CF5F065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807F7B91-E72E-44C2-B783-E6DBEF29B275}" type="pres">
      <dgm:prSet presAssocID="{683AB09F-1707-4596-A1F0-94CB0CF5F065}" presName="descendantText" presStyleLbl="alignAcc1" presStyleIdx="2" presStyleCnt="4">
        <dgm:presLayoutVars>
          <dgm:bulletEnabled val="1"/>
        </dgm:presLayoutVars>
      </dgm:prSet>
      <dgm:spPr/>
    </dgm:pt>
    <dgm:pt modelId="{4E1A5F44-CCB9-4ECF-A288-EF6E627B59FD}" type="pres">
      <dgm:prSet presAssocID="{45F3D0AE-3D21-435F-AE78-A8BEAA70EE3F}" presName="sp" presStyleCnt="0"/>
      <dgm:spPr/>
    </dgm:pt>
    <dgm:pt modelId="{4BAE1B94-A606-492A-B131-855DDFF36D8B}" type="pres">
      <dgm:prSet presAssocID="{36615F09-48C4-47C8-9801-A9B6F3976A74}" presName="composite" presStyleCnt="0"/>
      <dgm:spPr/>
    </dgm:pt>
    <dgm:pt modelId="{38E74B05-98F6-4157-8EF4-B61E5C3EF926}" type="pres">
      <dgm:prSet presAssocID="{36615F09-48C4-47C8-9801-A9B6F3976A74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DAC08F54-2043-4D76-BD0F-DC92435F1534}" type="pres">
      <dgm:prSet presAssocID="{36615F09-48C4-47C8-9801-A9B6F3976A74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6D6BDF0D-906C-48FB-AFC4-E7AFF7BB2B9E}" type="presOf" srcId="{36615F09-48C4-47C8-9801-A9B6F3976A74}" destId="{38E74B05-98F6-4157-8EF4-B61E5C3EF926}" srcOrd="0" destOrd="0" presId="urn:microsoft.com/office/officeart/2005/8/layout/chevron2"/>
    <dgm:cxn modelId="{D1A8BF1E-0D78-4ABF-ABDD-000527D055CF}" srcId="{B42BA158-7A75-41C0-BFDB-C04A756EC841}" destId="{808FCE2F-9A0E-4BE4-9404-AE421BB86F7E}" srcOrd="0" destOrd="0" parTransId="{1E024D1E-84BA-4230-B56E-B25A3794CFA3}" sibTransId="{CE37F20F-1EDC-4A4B-AAC3-98E067629DB1}"/>
    <dgm:cxn modelId="{A4E4DF1E-07F2-4693-850E-ABC7F467E6F8}" srcId="{683AB09F-1707-4596-A1F0-94CB0CF5F065}" destId="{D754DCA8-7D78-4817-AF7D-31345D9997C8}" srcOrd="0" destOrd="0" parTransId="{3A64F6B4-442C-4049-961E-CCA3D9A68D1F}" sibTransId="{C48243CF-86BB-4057-8D1B-C85AC4860B54}"/>
    <dgm:cxn modelId="{C7F36424-4842-42EB-84F3-1C0026D72725}" type="presOf" srcId="{D754DCA8-7D78-4817-AF7D-31345D9997C8}" destId="{807F7B91-E72E-44C2-B783-E6DBEF29B275}" srcOrd="0" destOrd="0" presId="urn:microsoft.com/office/officeart/2005/8/layout/chevron2"/>
    <dgm:cxn modelId="{C5B8C928-60A6-42DC-91FD-DE10C852BE59}" srcId="{2C3B191A-7878-419A-BD56-763818A11372}" destId="{36615F09-48C4-47C8-9801-A9B6F3976A74}" srcOrd="3" destOrd="0" parTransId="{6FD58897-234B-4194-87BB-96C6861F1EB1}" sibTransId="{98730C42-3E29-40E5-B79D-4D27E6F11E56}"/>
    <dgm:cxn modelId="{C0B85F5B-DF96-4FD5-A6C5-CAC0A4C6F4B9}" type="presOf" srcId="{2C3B191A-7878-419A-BD56-763818A11372}" destId="{4D552624-194D-4340-9545-6048B19E6CC3}" srcOrd="0" destOrd="0" presId="urn:microsoft.com/office/officeart/2005/8/layout/chevron2"/>
    <dgm:cxn modelId="{7C13735C-B362-4204-98B2-B655EFFB96EC}" type="presOf" srcId="{32C60D9B-B848-419B-9EE9-314FFE525A1E}" destId="{A1788923-0D16-450B-A92C-4C03C043C528}" srcOrd="0" destOrd="0" presId="urn:microsoft.com/office/officeart/2005/8/layout/chevron2"/>
    <dgm:cxn modelId="{DAC8F94A-2E10-499D-A613-9D26D0571770}" type="presOf" srcId="{0CBBCEF0-F5D5-4C4E-8207-9BD1A9E6FBE6}" destId="{A297D9C6-E178-4C73-97AB-07E9BE8F51A0}" srcOrd="0" destOrd="0" presId="urn:microsoft.com/office/officeart/2005/8/layout/chevron2"/>
    <dgm:cxn modelId="{15A6F276-BF2A-4DE6-94AB-6B919B82D1F0}" srcId="{2C3B191A-7878-419A-BD56-763818A11372}" destId="{32C60D9B-B848-419B-9EE9-314FFE525A1E}" srcOrd="0" destOrd="0" parTransId="{491E0DD7-5A41-44DC-B285-EE580C5BED1B}" sibTransId="{03897D86-BFDE-4A11-8979-8218E83AE8C5}"/>
    <dgm:cxn modelId="{3E850A7A-BB79-491A-A07E-A2E1F39317EE}" type="presOf" srcId="{683AB09F-1707-4596-A1F0-94CB0CF5F065}" destId="{E3A93419-6512-4398-9D31-168A1B1E4A26}" srcOrd="0" destOrd="0" presId="urn:microsoft.com/office/officeart/2005/8/layout/chevron2"/>
    <dgm:cxn modelId="{742E758A-E4A8-4258-BAE7-EA711705CCCA}" type="presOf" srcId="{B42BA158-7A75-41C0-BFDB-C04A756EC841}" destId="{95F297E8-FA90-462D-88D1-B399037FD7DD}" srcOrd="0" destOrd="0" presId="urn:microsoft.com/office/officeart/2005/8/layout/chevron2"/>
    <dgm:cxn modelId="{DD419F91-58BB-442A-BCCC-146579D25711}" type="presOf" srcId="{808FCE2F-9A0E-4BE4-9404-AE421BB86F7E}" destId="{15DBE93C-F32A-408E-8276-96850E638E9F}" srcOrd="0" destOrd="0" presId="urn:microsoft.com/office/officeart/2005/8/layout/chevron2"/>
    <dgm:cxn modelId="{A56964AB-A900-4B29-85A1-126DBC892CD1}" srcId="{2C3B191A-7878-419A-BD56-763818A11372}" destId="{B42BA158-7A75-41C0-BFDB-C04A756EC841}" srcOrd="1" destOrd="0" parTransId="{718B06B2-914C-4E3D-AD78-ADA42784F03F}" sibTransId="{F5F43156-379D-488A-AAFB-36A223753B06}"/>
    <dgm:cxn modelId="{E30E4AC5-5891-4F11-A8F8-A8A9512225BE}" type="presOf" srcId="{055521ED-3745-4B17-B9F9-BE0C75CF1527}" destId="{DAC08F54-2043-4D76-BD0F-DC92435F1534}" srcOrd="0" destOrd="0" presId="urn:microsoft.com/office/officeart/2005/8/layout/chevron2"/>
    <dgm:cxn modelId="{0750BCCA-FF33-4B96-9481-6959D0165135}" srcId="{36615F09-48C4-47C8-9801-A9B6F3976A74}" destId="{055521ED-3745-4B17-B9F9-BE0C75CF1527}" srcOrd="0" destOrd="0" parTransId="{AFC8B409-068D-46BF-B77D-9A5A760BE43D}" sibTransId="{533AD3C5-A672-4C7E-867F-897B433F8B12}"/>
    <dgm:cxn modelId="{DDEA35D7-F70E-419F-ADA6-91435FF1A059}" srcId="{32C60D9B-B848-419B-9EE9-314FFE525A1E}" destId="{0CBBCEF0-F5D5-4C4E-8207-9BD1A9E6FBE6}" srcOrd="0" destOrd="0" parTransId="{45BDD4BF-9D68-45AD-BF75-44564C4F51F3}" sibTransId="{87814B87-0A15-4724-A0CB-A8D09C7FFB6C}"/>
    <dgm:cxn modelId="{1326F7EA-4036-4FB7-A57E-AE3106F41875}" srcId="{2C3B191A-7878-419A-BD56-763818A11372}" destId="{683AB09F-1707-4596-A1F0-94CB0CF5F065}" srcOrd="2" destOrd="0" parTransId="{3BDC371D-FEF3-406A-AA78-A99475DD09EB}" sibTransId="{45F3D0AE-3D21-435F-AE78-A8BEAA70EE3F}"/>
    <dgm:cxn modelId="{57F32D88-E075-4B21-8A12-31F92D78FDE7}" type="presParOf" srcId="{4D552624-194D-4340-9545-6048B19E6CC3}" destId="{4748B268-35F2-460F-9446-64A31C558A6A}" srcOrd="0" destOrd="0" presId="urn:microsoft.com/office/officeart/2005/8/layout/chevron2"/>
    <dgm:cxn modelId="{4BB52CBE-4006-43C9-998F-3F46287F814C}" type="presParOf" srcId="{4748B268-35F2-460F-9446-64A31C558A6A}" destId="{A1788923-0D16-450B-A92C-4C03C043C528}" srcOrd="0" destOrd="0" presId="urn:microsoft.com/office/officeart/2005/8/layout/chevron2"/>
    <dgm:cxn modelId="{806393D1-CE04-476F-9B07-DE5FDADF60D7}" type="presParOf" srcId="{4748B268-35F2-460F-9446-64A31C558A6A}" destId="{A297D9C6-E178-4C73-97AB-07E9BE8F51A0}" srcOrd="1" destOrd="0" presId="urn:microsoft.com/office/officeart/2005/8/layout/chevron2"/>
    <dgm:cxn modelId="{D72CD7F3-8975-4E3F-93C8-1B97FDA0EA0C}" type="presParOf" srcId="{4D552624-194D-4340-9545-6048B19E6CC3}" destId="{DB821D4A-5D03-450B-AAD7-7D3A19CB2918}" srcOrd="1" destOrd="0" presId="urn:microsoft.com/office/officeart/2005/8/layout/chevron2"/>
    <dgm:cxn modelId="{76785966-25C4-45E2-B4B7-AB6A177621F4}" type="presParOf" srcId="{4D552624-194D-4340-9545-6048B19E6CC3}" destId="{9E044123-E82D-448C-8CA9-3E9ECF4B4DC6}" srcOrd="2" destOrd="0" presId="urn:microsoft.com/office/officeart/2005/8/layout/chevron2"/>
    <dgm:cxn modelId="{2EC8BBC0-8BDE-4C23-A649-C3500E62576D}" type="presParOf" srcId="{9E044123-E82D-448C-8CA9-3E9ECF4B4DC6}" destId="{95F297E8-FA90-462D-88D1-B399037FD7DD}" srcOrd="0" destOrd="0" presId="urn:microsoft.com/office/officeart/2005/8/layout/chevron2"/>
    <dgm:cxn modelId="{C5C661BD-F7F1-4095-A5A1-64EB4ABEAA40}" type="presParOf" srcId="{9E044123-E82D-448C-8CA9-3E9ECF4B4DC6}" destId="{15DBE93C-F32A-408E-8276-96850E638E9F}" srcOrd="1" destOrd="0" presId="urn:microsoft.com/office/officeart/2005/8/layout/chevron2"/>
    <dgm:cxn modelId="{D409BA96-F5FF-4679-BE8F-51E84C9545E1}" type="presParOf" srcId="{4D552624-194D-4340-9545-6048B19E6CC3}" destId="{909C8163-F175-43CF-9D82-93251EE0128F}" srcOrd="3" destOrd="0" presId="urn:microsoft.com/office/officeart/2005/8/layout/chevron2"/>
    <dgm:cxn modelId="{1C5BFEFE-C406-44AB-96C2-5706A9AE41A2}" type="presParOf" srcId="{4D552624-194D-4340-9545-6048B19E6CC3}" destId="{626CE7B1-51A5-4453-84C2-F2AE4A806F0D}" srcOrd="4" destOrd="0" presId="urn:microsoft.com/office/officeart/2005/8/layout/chevron2"/>
    <dgm:cxn modelId="{63DA34B4-2013-491E-87D5-E40B4D037BF2}" type="presParOf" srcId="{626CE7B1-51A5-4453-84C2-F2AE4A806F0D}" destId="{E3A93419-6512-4398-9D31-168A1B1E4A26}" srcOrd="0" destOrd="0" presId="urn:microsoft.com/office/officeart/2005/8/layout/chevron2"/>
    <dgm:cxn modelId="{D9810710-3296-4BE8-B71C-AF2CBFB5A1E0}" type="presParOf" srcId="{626CE7B1-51A5-4453-84C2-F2AE4A806F0D}" destId="{807F7B91-E72E-44C2-B783-E6DBEF29B275}" srcOrd="1" destOrd="0" presId="urn:microsoft.com/office/officeart/2005/8/layout/chevron2"/>
    <dgm:cxn modelId="{EB36C113-38BC-49DA-8108-3E4C305E2E9A}" type="presParOf" srcId="{4D552624-194D-4340-9545-6048B19E6CC3}" destId="{4E1A5F44-CCB9-4ECF-A288-EF6E627B59FD}" srcOrd="5" destOrd="0" presId="urn:microsoft.com/office/officeart/2005/8/layout/chevron2"/>
    <dgm:cxn modelId="{3EBF851F-5F6D-4FE5-907A-21B1692515B1}" type="presParOf" srcId="{4D552624-194D-4340-9545-6048B19E6CC3}" destId="{4BAE1B94-A606-492A-B131-855DDFF36D8B}" srcOrd="6" destOrd="0" presId="urn:microsoft.com/office/officeart/2005/8/layout/chevron2"/>
    <dgm:cxn modelId="{9BB80544-C4CD-4A14-A4E5-376DA9DF6204}" type="presParOf" srcId="{4BAE1B94-A606-492A-B131-855DDFF36D8B}" destId="{38E74B05-98F6-4157-8EF4-B61E5C3EF926}" srcOrd="0" destOrd="0" presId="urn:microsoft.com/office/officeart/2005/8/layout/chevron2"/>
    <dgm:cxn modelId="{356D84F8-DABB-47BD-B873-AA6FDF4FF221}" type="presParOf" srcId="{4BAE1B94-A606-492A-B131-855DDFF36D8B}" destId="{DAC08F54-2043-4D76-BD0F-DC92435F1534}" srcOrd="1" destOrd="0" presId="urn:microsoft.com/office/officeart/2005/8/layout/chevron2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788923-0D16-450B-A92C-4C03C043C528}">
      <dsp:nvSpPr>
        <dsp:cNvPr id="0" name=""/>
        <dsp:cNvSpPr/>
      </dsp:nvSpPr>
      <dsp:spPr>
        <a:xfrm rot="5400000">
          <a:off x="-211103" y="215072"/>
          <a:ext cx="1407355" cy="985148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</a:p>
      </dsp:txBody>
      <dsp:txXfrm rot="-5400000">
        <a:off x="1" y="496542"/>
        <a:ext cx="985148" cy="422207"/>
      </dsp:txXfrm>
    </dsp:sp>
    <dsp:sp modelId="{A297D9C6-E178-4C73-97AB-07E9BE8F51A0}">
      <dsp:nvSpPr>
        <dsp:cNvPr id="0" name=""/>
        <dsp:cNvSpPr/>
      </dsp:nvSpPr>
      <dsp:spPr>
        <a:xfrm rot="5400000">
          <a:off x="4764048" y="-3774931"/>
          <a:ext cx="914781" cy="847258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EVALUATION DE LA PERFORMANCE A MIS PARS COURS</a:t>
          </a:r>
        </a:p>
      </dsp:txBody>
      <dsp:txXfrm rot="-5400000">
        <a:off x="985148" y="48625"/>
        <a:ext cx="8427925" cy="825469"/>
      </dsp:txXfrm>
    </dsp:sp>
    <dsp:sp modelId="{95F297E8-FA90-462D-88D1-B399037FD7DD}">
      <dsp:nvSpPr>
        <dsp:cNvPr id="0" name=""/>
        <dsp:cNvSpPr/>
      </dsp:nvSpPr>
      <dsp:spPr>
        <a:xfrm rot="5400000">
          <a:off x="-211103" y="1477522"/>
          <a:ext cx="1407355" cy="985148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</a:p>
      </dsp:txBody>
      <dsp:txXfrm rot="-5400000">
        <a:off x="1" y="1758992"/>
        <a:ext cx="985148" cy="422207"/>
      </dsp:txXfrm>
    </dsp:sp>
    <dsp:sp modelId="{15DBE93C-F32A-408E-8276-96850E638E9F}">
      <dsp:nvSpPr>
        <dsp:cNvPr id="0" name=""/>
        <dsp:cNvSpPr/>
      </dsp:nvSpPr>
      <dsp:spPr>
        <a:xfrm rot="5400000">
          <a:off x="4754474" y="-2618101"/>
          <a:ext cx="914781" cy="847258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TAUX DE DECLARATION</a:t>
          </a:r>
        </a:p>
      </dsp:txBody>
      <dsp:txXfrm rot="-5400000">
        <a:off x="975574" y="1205455"/>
        <a:ext cx="8427925" cy="825469"/>
      </dsp:txXfrm>
    </dsp:sp>
    <dsp:sp modelId="{E3A93419-6512-4398-9D31-168A1B1E4A26}">
      <dsp:nvSpPr>
        <dsp:cNvPr id="0" name=""/>
        <dsp:cNvSpPr/>
      </dsp:nvSpPr>
      <dsp:spPr>
        <a:xfrm rot="5400000">
          <a:off x="-211103" y="2739972"/>
          <a:ext cx="1407355" cy="985148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  <a:endParaRPr lang="fr-FR" sz="28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3021442"/>
        <a:ext cx="985148" cy="422207"/>
      </dsp:txXfrm>
    </dsp:sp>
    <dsp:sp modelId="{807F7B91-E72E-44C2-B783-E6DBEF29B275}">
      <dsp:nvSpPr>
        <dsp:cNvPr id="0" name=""/>
        <dsp:cNvSpPr/>
      </dsp:nvSpPr>
      <dsp:spPr>
        <a:xfrm rot="5400000">
          <a:off x="4764048" y="-1250031"/>
          <a:ext cx="914781" cy="847258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EVALUATION DE L’ACTIVITE</a:t>
          </a:r>
        </a:p>
      </dsp:txBody>
      <dsp:txXfrm rot="-5400000">
        <a:off x="985148" y="2573525"/>
        <a:ext cx="8427925" cy="825469"/>
      </dsp:txXfrm>
    </dsp:sp>
    <dsp:sp modelId="{38E74B05-98F6-4157-8EF4-B61E5C3EF926}">
      <dsp:nvSpPr>
        <dsp:cNvPr id="0" name=""/>
        <dsp:cNvSpPr/>
      </dsp:nvSpPr>
      <dsp:spPr>
        <a:xfrm rot="5400000">
          <a:off x="-211103" y="4002421"/>
          <a:ext cx="1407355" cy="985148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</a:t>
          </a:r>
        </a:p>
      </dsp:txBody>
      <dsp:txXfrm rot="-5400000">
        <a:off x="1" y="4283891"/>
        <a:ext cx="985148" cy="422207"/>
      </dsp:txXfrm>
    </dsp:sp>
    <dsp:sp modelId="{DAC08F54-2043-4D76-BD0F-DC92435F1534}">
      <dsp:nvSpPr>
        <dsp:cNvPr id="0" name=""/>
        <dsp:cNvSpPr/>
      </dsp:nvSpPr>
      <dsp:spPr>
        <a:xfrm rot="5400000">
          <a:off x="4764048" y="12418"/>
          <a:ext cx="914781" cy="847258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M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EVALUATION DES EMISSIONS</a:t>
          </a:r>
          <a:endParaRPr lang="fr-FR" sz="20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985148" y="3835974"/>
        <a:ext cx="8427925" cy="8254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02DD9B-2962-4796-A81E-EF594845BEC8}" type="datetimeFigureOut">
              <a:rPr lang="fr-FR" smtClean="0"/>
              <a:pPr/>
              <a:t>05/07/2026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305498-5476-4EC0-8081-253EAF95E37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3146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5498-5476-4EC0-8081-253EAF95E377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31907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5498-5476-4EC0-8081-253EAF95E377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0297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671B0-8B9F-E807-7D60-FE79C045E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ECE2D17-DB0C-33B3-E350-0E97DE0B8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0FB31CC-8839-4489-0909-2CB2E7DC4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1ECD5BE-11B3-1FC8-4704-53678E71E1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5498-5476-4EC0-8081-253EAF95E377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87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7DADF-2533-0BBE-B96F-EF7255DF2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77182D9-7A86-88E1-0E06-2087E1DA2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270B448-4544-5506-D6A9-CC03425E7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20C17A4-3803-3373-D44A-ED087D99F5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5498-5476-4EC0-8081-253EAF95E377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3303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1A3DF-C236-897F-D314-00A756D45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7A4075D-393E-B595-4084-7053D3C56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B74B1F8-9A81-6AF6-A131-F4B22A93B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096D71B-C3C2-6AB7-99A1-4A06911C69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5498-5476-4EC0-8081-253EAF95E377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54457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E575F-B11C-3FA9-0D9D-5A1D4E9BF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AF96A19-03A8-2163-33E7-5CB287F82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795AF2C-B113-6B70-9F3F-A984B2866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A69C36-E135-F09A-84A4-F59352F84E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5498-5476-4EC0-8081-253EAF95E377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1884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BB376-B00A-AF1D-9D3B-632CF7255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5EA0BF7-BA5A-620A-0C1A-C401853E7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1C12013-0548-E020-7B4F-E97E2DA11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D97321E-457C-5F54-9C99-4E93B52598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5498-5476-4EC0-8081-253EAF95E377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9512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E7391-891F-4718-7FA0-E6BFFF1C1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262253F-CC09-1DBE-9A35-0DC0F2429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F70C07D-6287-831E-8C33-C3A781C54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0ED9ED-5EB4-2192-21BE-2C897AFFA9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5498-5476-4EC0-8081-253EAF95E377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40743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8E087-2445-7D65-ECDE-9A9E56EB8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456E261-FC25-20B2-1C62-EE55EF8D7F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F8E7C27-6A78-B481-B0E8-32809ADB5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324B51-2746-A6B1-2485-4AF799D42E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5498-5476-4EC0-8081-253EAF95E377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90911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406DB-7AD4-0746-CB57-4D4022E60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75DF6E5-ABB1-B3DC-64CC-F814AC4D83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88158CB-F8D1-78BE-20AE-763AE9F23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FF96424-58B1-A719-959A-FC1636D7A6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5498-5476-4EC0-8081-253EAF95E377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35896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5498-5476-4EC0-8081-253EAF95E377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74161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3C5CF-5E15-416F-BC97-87AED8A58A49}" type="datetime1">
              <a:rPr lang="fr-FR" smtClean="0"/>
              <a:t>05/07/2026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AF0B-8912-4904-970B-A9F5335A4EA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7108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0E55-E2AD-4A86-8E4E-903A087F538A}" type="datetime1">
              <a:rPr lang="fr-FR" smtClean="0"/>
              <a:t>05/07/2026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AF0B-8912-4904-970B-A9F5335A4EA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310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4D325-73E5-4AFA-99B2-4A8BBBEAE915}" type="datetime1">
              <a:rPr lang="fr-FR" smtClean="0"/>
              <a:t>05/07/2026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AF0B-8912-4904-970B-A9F5335A4EA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3007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6845-7511-43E5-8868-8B2329C3AB42}" type="datetime1">
              <a:rPr lang="fr-FR" smtClean="0"/>
              <a:t>05/07/2026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AF0B-8912-4904-970B-A9F5335A4EA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8060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E3910-A42C-4550-B8A2-DC39E28A34A3}" type="datetime1">
              <a:rPr lang="fr-FR" smtClean="0"/>
              <a:t>05/07/2026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AF0B-8912-4904-970B-A9F5335A4EA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029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1630D-82A4-49B5-A572-3E7592279C52}" type="datetime1">
              <a:rPr lang="fr-FR" smtClean="0"/>
              <a:t>05/07/2026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AF0B-8912-4904-970B-A9F5335A4EA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4847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0E7F-C0B9-41FD-A8FD-C169B26D826A}" type="datetime1">
              <a:rPr lang="fr-FR" smtClean="0"/>
              <a:t>05/07/2026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AF0B-8912-4904-970B-A9F5335A4EA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8615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7FB87-B3A6-456A-AB14-5A22F3EFB956}" type="datetime1">
              <a:rPr lang="fr-FR" smtClean="0"/>
              <a:t>05/07/2026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AF0B-8912-4904-970B-A9F5335A4EA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0498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7EDC-699E-4379-8DB4-994AD3CC693D}" type="datetime1">
              <a:rPr lang="fr-FR" smtClean="0"/>
              <a:t>05/07/2026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AF0B-8912-4904-970B-A9F5335A4EA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2693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39F72-F0AA-4725-B87A-9753EBAED850}" type="datetime1">
              <a:rPr lang="fr-FR" smtClean="0"/>
              <a:t>05/07/2026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AF0B-8912-4904-970B-A9F5335A4EA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2260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AA73-89D1-4490-A3D6-BD597C0EFAB7}" type="datetime1">
              <a:rPr lang="fr-FR" smtClean="0"/>
              <a:t>05/07/2026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AF0B-8912-4904-970B-A9F5335A4EA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35815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A004DC-74A3-4109-BEA1-ACD974DBC2B1}" type="datetime1">
              <a:rPr lang="fr-FR" smtClean="0"/>
              <a:t>05/07/2026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5AF0B-8912-4904-970B-A9F5335A4EA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2181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Relationship Id="rId4" Type="http://schemas.openxmlformats.org/officeDocument/2006/relationships/diagramData" Target="../diagrams/data1.xml"/><Relationship Id="rId5" Type="http://schemas.openxmlformats.org/officeDocument/2006/relationships/diagramLayout" Target="../diagrams/layout1.xml"/><Relationship Id="rId6" Type="http://schemas.openxmlformats.org/officeDocument/2006/relationships/diagramQuickStyle" Target="../diagrams/quickStyle1.xml"/><Relationship Id="rId7" Type="http://schemas.openxmlformats.org/officeDocument/2006/relationships/diagramColors" Target="../diagrams/colors1.xml"/><Relationship Id="rId8" Type="http://schemas.microsoft.com/office/2007/relationships/diagramDrawing" Target="../diagrams/drawing1.xml"/><Relationship Id="rId9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e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e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e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e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e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e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e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e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.jpe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67008" y="2564904"/>
            <a:ext cx="9297543" cy="1746955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fr-FR" sz="3200" b="1" dirty="0">
                <a:solidFill>
                  <a:schemeClr val="bg1"/>
                </a:solidFill>
              </a:rPr>
              <a:t> </a:t>
            </a:r>
            <a:r>
              <a:rPr lang="fr-CM" sz="4000" b="1" dirty="0">
                <a:latin typeface="Garamond" panose="02020404030301010803" pitchFamily="18" charset="0"/>
                <a:cs typeface="Times New Roman" panose="02020603050405020304" pitchFamily="18" charset="0"/>
              </a:rPr>
              <a:t>EVALUATION DE LA PERFORMANCE DU CRICEXT DU MOIS DE JUIN 2026 </a:t>
            </a:r>
            <a:endParaRPr lang="fr-FR" sz="4000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2"/>
          </p:nvPr>
        </p:nvSpPr>
        <p:spPr>
          <a:xfrm>
            <a:off x="11782938" y="6240478"/>
            <a:ext cx="407368" cy="365125"/>
          </a:xfrm>
          <a:solidFill>
            <a:schemeClr val="accent2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fld id="{B205AF0B-8912-4904-970B-A9F5335A4EA1}" type="slidenum">
              <a:rPr lang="fr-FR" sz="1600" b="1" smtClean="0">
                <a:solidFill>
                  <a:schemeClr val="bg1"/>
                </a:solidFill>
              </a:rPr>
              <a:pPr algn="ctr"/>
              <a:t>1</a:t>
            </a:fld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178465" y="624335"/>
            <a:ext cx="1588544" cy="6444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pic>
        <p:nvPicPr>
          <p:cNvPr id="20" name="Image 19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5794" cy="1052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2" descr="I:\dgi-banner-fr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25794" y="8753"/>
            <a:ext cx="10966206" cy="1043983"/>
          </a:xfrm>
          <a:prstGeom prst="rect">
            <a:avLst/>
          </a:prstGeom>
          <a:noFill/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0" y="6604582"/>
            <a:ext cx="12191996" cy="2362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17"/>
          <p:cNvSpPr>
            <a:spLocks noGrp="1"/>
          </p:cNvSpPr>
          <p:nvPr>
            <p:ph type="sldNum" sz="quarter" idx="12"/>
          </p:nvPr>
        </p:nvSpPr>
        <p:spPr>
          <a:xfrm>
            <a:off x="11593288" y="6256595"/>
            <a:ext cx="407368" cy="365125"/>
          </a:xfrm>
          <a:solidFill>
            <a:schemeClr val="accent2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fld id="{B205AF0B-8912-4904-970B-A9F5335A4EA1}" type="slidenum">
              <a:rPr lang="fr-FR" sz="1600" b="1" smtClean="0">
                <a:solidFill>
                  <a:schemeClr val="bg1"/>
                </a:solidFill>
              </a:rPr>
              <a:pPr algn="ctr"/>
              <a:t>2</a:t>
            </a:fld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38" name="Chevron 9"/>
          <p:cNvSpPr/>
          <p:nvPr/>
        </p:nvSpPr>
        <p:spPr>
          <a:xfrm>
            <a:off x="-12296" y="693846"/>
            <a:ext cx="2147855" cy="541376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  <a:gd name="connsiteX0" fmla="*/ 13795 w 2521499"/>
              <a:gd name="connsiteY0" fmla="*/ 0 h 754664"/>
              <a:gd name="connsiteX1" fmla="*/ 2372767 w 2521499"/>
              <a:gd name="connsiteY1" fmla="*/ 0 h 754664"/>
              <a:gd name="connsiteX2" fmla="*/ 2521499 w 2521499"/>
              <a:gd name="connsiteY2" fmla="*/ 363885 h 754664"/>
              <a:gd name="connsiteX3" fmla="*/ 2372767 w 2521499"/>
              <a:gd name="connsiteY3" fmla="*/ 754664 h 754664"/>
              <a:gd name="connsiteX4" fmla="*/ 13795 w 2521499"/>
              <a:gd name="connsiteY4" fmla="*/ 754664 h 754664"/>
              <a:gd name="connsiteX5" fmla="*/ 0 w 2521499"/>
              <a:gd name="connsiteY5" fmla="*/ 377332 h 754664"/>
              <a:gd name="connsiteX6" fmla="*/ 13795 w 2521499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1499" h="754664">
                <a:moveTo>
                  <a:pt x="13795" y="0"/>
                </a:moveTo>
                <a:lnTo>
                  <a:pt x="2372767" y="0"/>
                </a:lnTo>
                <a:lnTo>
                  <a:pt x="2521499" y="363885"/>
                </a:lnTo>
                <a:lnTo>
                  <a:pt x="2372767" y="754664"/>
                </a:lnTo>
                <a:lnTo>
                  <a:pt x="13795" y="754664"/>
                </a:lnTo>
                <a:lnTo>
                  <a:pt x="0" y="377332"/>
                </a:lnTo>
                <a:lnTo>
                  <a:pt x="1379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</a:t>
            </a:r>
          </a:p>
        </p:txBody>
      </p:sp>
      <p:cxnSp>
        <p:nvCxnSpPr>
          <p:cNvPr id="39" name="Connecteur droit 38"/>
          <p:cNvCxnSpPr/>
          <p:nvPr/>
        </p:nvCxnSpPr>
        <p:spPr>
          <a:xfrm flipH="1">
            <a:off x="1919537" y="700864"/>
            <a:ext cx="10272463" cy="1"/>
          </a:xfrm>
          <a:prstGeom prst="line">
            <a:avLst/>
          </a:prstGeom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I:\dgi-banner-f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2296" y="8753"/>
            <a:ext cx="12204296" cy="685093"/>
          </a:xfrm>
          <a:prstGeom prst="rect">
            <a:avLst/>
          </a:prstGeom>
          <a:noFill/>
        </p:spPr>
      </p:pic>
      <p:graphicFrame>
        <p:nvGraphicFramePr>
          <p:cNvPr id="4" name="Diagramme 3"/>
          <p:cNvGraphicFramePr/>
          <p:nvPr>
            <p:extLst>
              <p:ext uri="{D42A27DB-BD31-4B8C-83A1-F6EECF244321}">
                <p14:modId xmlns:p14="http://schemas.microsoft.com/office/powerpoint/2010/main" val="1098806565"/>
              </p:ext>
            </p:extLst>
          </p:nvPr>
        </p:nvGraphicFramePr>
        <p:xfrm>
          <a:off x="1822846" y="980652"/>
          <a:ext cx="9457730" cy="52026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21720"/>
            <a:ext cx="12191996" cy="2362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813393959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7295F-44C2-9361-1462-D0265883F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76EFEDAC-D7F9-3A95-6259-CB903AC46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3450" y="6243349"/>
            <a:ext cx="407368" cy="365125"/>
          </a:xfrm>
          <a:solidFill>
            <a:schemeClr val="accent2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fld id="{B205AF0B-8912-4904-970B-A9F5335A4EA1}" type="slidenum">
              <a:rPr lang="fr-FR" sz="1600" b="1" smtClean="0">
                <a:solidFill>
                  <a:schemeClr val="bg1"/>
                </a:solidFill>
              </a:rPr>
              <a:pPr algn="ctr"/>
              <a:t>3</a:t>
            </a:fld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30" name="Chevron 9">
            <a:extLst>
              <a:ext uri="{FF2B5EF4-FFF2-40B4-BE49-F238E27FC236}">
                <a16:creationId xmlns:a16="http://schemas.microsoft.com/office/drawing/2014/main" id="{BD385246-4F29-C936-C79A-404877071290}"/>
              </a:ext>
            </a:extLst>
          </p:cNvPr>
          <p:cNvSpPr/>
          <p:nvPr/>
        </p:nvSpPr>
        <p:spPr>
          <a:xfrm>
            <a:off x="6874229" y="67329"/>
            <a:ext cx="2088232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7704" h="754664">
                <a:moveTo>
                  <a:pt x="0" y="0"/>
                </a:moveTo>
                <a:lnTo>
                  <a:pt x="2358972" y="0"/>
                </a:lnTo>
                <a:lnTo>
                  <a:pt x="2507704" y="363885"/>
                </a:lnTo>
                <a:lnTo>
                  <a:pt x="2358972" y="754664"/>
                </a:lnTo>
                <a:lnTo>
                  <a:pt x="0" y="754664"/>
                </a:lnTo>
                <a:lnTo>
                  <a:pt x="135285" y="3773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Objectifs</a:t>
            </a:r>
          </a:p>
        </p:txBody>
      </p:sp>
      <p:sp>
        <p:nvSpPr>
          <p:cNvPr id="31" name="Chevron 9">
            <a:extLst>
              <a:ext uri="{FF2B5EF4-FFF2-40B4-BE49-F238E27FC236}">
                <a16:creationId xmlns:a16="http://schemas.microsoft.com/office/drawing/2014/main" id="{FFFF5B34-307B-6669-20E8-43CD7AC6B5A9}"/>
              </a:ext>
            </a:extLst>
          </p:cNvPr>
          <p:cNvSpPr/>
          <p:nvPr/>
        </p:nvSpPr>
        <p:spPr>
          <a:xfrm>
            <a:off x="9213793" y="44073"/>
            <a:ext cx="2261959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7704" h="754664">
                <a:moveTo>
                  <a:pt x="0" y="0"/>
                </a:moveTo>
                <a:lnTo>
                  <a:pt x="2358972" y="0"/>
                </a:lnTo>
                <a:lnTo>
                  <a:pt x="2507704" y="363885"/>
                </a:lnTo>
                <a:lnTo>
                  <a:pt x="2358972" y="754664"/>
                </a:lnTo>
                <a:lnTo>
                  <a:pt x="0" y="754664"/>
                </a:lnTo>
                <a:lnTo>
                  <a:pt x="135285" y="3773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Hypothèses</a:t>
            </a:r>
          </a:p>
        </p:txBody>
      </p:sp>
      <p:sp>
        <p:nvSpPr>
          <p:cNvPr id="32" name="Chevron 9">
            <a:extLst>
              <a:ext uri="{FF2B5EF4-FFF2-40B4-BE49-F238E27FC236}">
                <a16:creationId xmlns:a16="http://schemas.microsoft.com/office/drawing/2014/main" id="{879810E9-68DD-DE36-EF65-41B5C739EA83}"/>
              </a:ext>
            </a:extLst>
          </p:cNvPr>
          <p:cNvSpPr/>
          <p:nvPr/>
        </p:nvSpPr>
        <p:spPr>
          <a:xfrm>
            <a:off x="1919537" y="54450"/>
            <a:ext cx="2274402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  <a:gd name="connsiteX0" fmla="*/ 13795 w 2521499"/>
              <a:gd name="connsiteY0" fmla="*/ 0 h 754664"/>
              <a:gd name="connsiteX1" fmla="*/ 2372767 w 2521499"/>
              <a:gd name="connsiteY1" fmla="*/ 0 h 754664"/>
              <a:gd name="connsiteX2" fmla="*/ 2521499 w 2521499"/>
              <a:gd name="connsiteY2" fmla="*/ 363885 h 754664"/>
              <a:gd name="connsiteX3" fmla="*/ 2372767 w 2521499"/>
              <a:gd name="connsiteY3" fmla="*/ 754664 h 754664"/>
              <a:gd name="connsiteX4" fmla="*/ 13795 w 2521499"/>
              <a:gd name="connsiteY4" fmla="*/ 754664 h 754664"/>
              <a:gd name="connsiteX5" fmla="*/ 0 w 2521499"/>
              <a:gd name="connsiteY5" fmla="*/ 377332 h 754664"/>
              <a:gd name="connsiteX6" fmla="*/ 13795 w 2521499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1499" h="754664">
                <a:moveTo>
                  <a:pt x="13795" y="0"/>
                </a:moveTo>
                <a:lnTo>
                  <a:pt x="2372767" y="0"/>
                </a:lnTo>
                <a:lnTo>
                  <a:pt x="2521499" y="363885"/>
                </a:lnTo>
                <a:lnTo>
                  <a:pt x="2372767" y="754664"/>
                </a:lnTo>
                <a:lnTo>
                  <a:pt x="13795" y="754664"/>
                </a:lnTo>
                <a:lnTo>
                  <a:pt x="0" y="377332"/>
                </a:lnTo>
                <a:lnTo>
                  <a:pt x="1379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Contexte </a:t>
            </a: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82F1EB8C-6DC0-27E8-FFC1-488709D159E5}"/>
              </a:ext>
            </a:extLst>
          </p:cNvPr>
          <p:cNvCxnSpPr/>
          <p:nvPr/>
        </p:nvCxnSpPr>
        <p:spPr>
          <a:xfrm flipH="1">
            <a:off x="1919537" y="687985"/>
            <a:ext cx="10272463" cy="1"/>
          </a:xfrm>
          <a:prstGeom prst="line">
            <a:avLst/>
          </a:prstGeom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hevron 9">
            <a:extLst>
              <a:ext uri="{FF2B5EF4-FFF2-40B4-BE49-F238E27FC236}">
                <a16:creationId xmlns:a16="http://schemas.microsoft.com/office/drawing/2014/main" id="{2228105D-936A-E6D9-23DE-13E2EDFD57A9}"/>
              </a:ext>
            </a:extLst>
          </p:cNvPr>
          <p:cNvSpPr/>
          <p:nvPr/>
        </p:nvSpPr>
        <p:spPr>
          <a:xfrm>
            <a:off x="4476203" y="56008"/>
            <a:ext cx="2123853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7704" h="754664">
                <a:moveTo>
                  <a:pt x="0" y="0"/>
                </a:moveTo>
                <a:lnTo>
                  <a:pt x="2358972" y="0"/>
                </a:lnTo>
                <a:lnTo>
                  <a:pt x="2507704" y="363885"/>
                </a:lnTo>
                <a:lnTo>
                  <a:pt x="2358972" y="754664"/>
                </a:lnTo>
                <a:lnTo>
                  <a:pt x="0" y="754664"/>
                </a:lnTo>
                <a:lnTo>
                  <a:pt x="135285" y="3773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problématique</a:t>
            </a:r>
          </a:p>
        </p:txBody>
      </p:sp>
      <p:pic>
        <p:nvPicPr>
          <p:cNvPr id="11" name="Picture 2" descr="I:\dgi-banner-fr.jpg">
            <a:extLst>
              <a:ext uri="{FF2B5EF4-FFF2-40B4-BE49-F238E27FC236}">
                <a16:creationId xmlns:a16="http://schemas.microsoft.com/office/drawing/2014/main" id="{7059F0F4-6240-6B7F-D292-93B8E7BDC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2296" y="8753"/>
            <a:ext cx="12204296" cy="685093"/>
          </a:xfrm>
          <a:prstGeom prst="rect">
            <a:avLst/>
          </a:prstGeom>
          <a:noFill/>
        </p:spPr>
      </p:pic>
      <p:sp>
        <p:nvSpPr>
          <p:cNvPr id="13" name="Chevron 9">
            <a:extLst>
              <a:ext uri="{FF2B5EF4-FFF2-40B4-BE49-F238E27FC236}">
                <a16:creationId xmlns:a16="http://schemas.microsoft.com/office/drawing/2014/main" id="{58B364DF-7949-1661-BE49-DD0B51B5F899}"/>
              </a:ext>
            </a:extLst>
          </p:cNvPr>
          <p:cNvSpPr/>
          <p:nvPr/>
        </p:nvSpPr>
        <p:spPr>
          <a:xfrm>
            <a:off x="2160151" y="-4493"/>
            <a:ext cx="10031849" cy="697972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  <a:gd name="connsiteX0" fmla="*/ 13795 w 2521499"/>
              <a:gd name="connsiteY0" fmla="*/ 0 h 754664"/>
              <a:gd name="connsiteX1" fmla="*/ 2372767 w 2521499"/>
              <a:gd name="connsiteY1" fmla="*/ 0 h 754664"/>
              <a:gd name="connsiteX2" fmla="*/ 2521499 w 2521499"/>
              <a:gd name="connsiteY2" fmla="*/ 363885 h 754664"/>
              <a:gd name="connsiteX3" fmla="*/ 2372767 w 2521499"/>
              <a:gd name="connsiteY3" fmla="*/ 754664 h 754664"/>
              <a:gd name="connsiteX4" fmla="*/ 13795 w 2521499"/>
              <a:gd name="connsiteY4" fmla="*/ 754664 h 754664"/>
              <a:gd name="connsiteX5" fmla="*/ 0 w 2521499"/>
              <a:gd name="connsiteY5" fmla="*/ 377332 h 754664"/>
              <a:gd name="connsiteX6" fmla="*/ 13795 w 2521499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1499" h="754664">
                <a:moveTo>
                  <a:pt x="13795" y="0"/>
                </a:moveTo>
                <a:lnTo>
                  <a:pt x="2372767" y="0"/>
                </a:lnTo>
                <a:lnTo>
                  <a:pt x="2521499" y="363885"/>
                </a:lnTo>
                <a:lnTo>
                  <a:pt x="2372767" y="754664"/>
                </a:lnTo>
                <a:lnTo>
                  <a:pt x="13795" y="754664"/>
                </a:lnTo>
                <a:lnTo>
                  <a:pt x="0" y="377332"/>
                </a:lnTo>
                <a:lnTo>
                  <a:pt x="1379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M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DE LA PERFORMANCE PAR CENTRE</a:t>
            </a:r>
            <a:endParaRPr lang="fr-FR" sz="24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C2802FEB-87BF-ADCA-2990-027137694E2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" y="8753"/>
            <a:ext cx="1343472" cy="70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CC115C38-1E10-D333-B3CE-8331B8E3C3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21720"/>
            <a:ext cx="12191996" cy="2362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A047D9-F2A6-EB66-F85F-F332477440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486454"/>
              </p:ext>
            </p:extLst>
          </p:nvPr>
        </p:nvGraphicFramePr>
        <p:xfrm>
          <a:off x="1055440" y="1124744"/>
          <a:ext cx="10420312" cy="475252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439149">
                  <a:extLst>
                    <a:ext uri="{9D8B030D-6E8A-4147-A177-3AD203B41FA5}">
                      <a16:colId xmlns:a16="http://schemas.microsoft.com/office/drawing/2014/main" val="316410821"/>
                    </a:ext>
                  </a:extLst>
                </a:gridCol>
                <a:gridCol w="995571">
                  <a:extLst>
                    <a:ext uri="{9D8B030D-6E8A-4147-A177-3AD203B41FA5}">
                      <a16:colId xmlns:a16="http://schemas.microsoft.com/office/drawing/2014/main" val="1521745132"/>
                    </a:ext>
                  </a:extLst>
                </a:gridCol>
                <a:gridCol w="2024328">
                  <a:extLst>
                    <a:ext uri="{9D8B030D-6E8A-4147-A177-3AD203B41FA5}">
                      <a16:colId xmlns:a16="http://schemas.microsoft.com/office/drawing/2014/main" val="2656004259"/>
                    </a:ext>
                  </a:extLst>
                </a:gridCol>
                <a:gridCol w="1344021">
                  <a:extLst>
                    <a:ext uri="{9D8B030D-6E8A-4147-A177-3AD203B41FA5}">
                      <a16:colId xmlns:a16="http://schemas.microsoft.com/office/drawing/2014/main" val="4291855079"/>
                    </a:ext>
                  </a:extLst>
                </a:gridCol>
                <a:gridCol w="1792028">
                  <a:extLst>
                    <a:ext uri="{9D8B030D-6E8A-4147-A177-3AD203B41FA5}">
                      <a16:colId xmlns:a16="http://schemas.microsoft.com/office/drawing/2014/main" val="196271624"/>
                    </a:ext>
                  </a:extLst>
                </a:gridCol>
                <a:gridCol w="1825215">
                  <a:extLst>
                    <a:ext uri="{9D8B030D-6E8A-4147-A177-3AD203B41FA5}">
                      <a16:colId xmlns:a16="http://schemas.microsoft.com/office/drawing/2014/main" val="3157186587"/>
                    </a:ext>
                  </a:extLst>
                </a:gridCol>
              </a:tblGrid>
              <a:tr h="2376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STRUCURES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DPO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REALISATION JUIN 2026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ECART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TAUX REALISATION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REALISATION JUIN 2025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536222733"/>
                  </a:ext>
                </a:extLst>
              </a:tr>
              <a:tr h="2376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CIME CENTRE EXTERIEUR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973 752 492  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622 393 953  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351 358 539  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489 442 322  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261060995"/>
                  </a:ext>
                </a:extLst>
              </a:tr>
              <a:tr h="2376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NANGA-EBOKO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10 965 275  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       -     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10 965 275   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626989731"/>
                  </a:ext>
                </a:extLst>
              </a:tr>
              <a:tr h="2376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MBAM ET INOUBOU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21 161 919  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       -     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21 161 919   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10 537 251   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674736563"/>
                  </a:ext>
                </a:extLst>
              </a:tr>
              <a:tr h="2376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MBAM ET KIM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9 786 235  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       -     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9 786 235   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198 928   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647777248"/>
                  </a:ext>
                </a:extLst>
              </a:tr>
              <a:tr h="2376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MBANDJOCK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6 011 643  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       -     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6 011 643   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2 788 017   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222367937"/>
                  </a:ext>
                </a:extLst>
              </a:tr>
              <a:tr h="2376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MFOU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31 400 184  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77 562 476  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      46 162 292  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47 109 877  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995685962"/>
                  </a:ext>
                </a:extLst>
              </a:tr>
              <a:tr h="2376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NKOABANG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15 317 163  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       -     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15 317 163   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619089066"/>
                  </a:ext>
                </a:extLst>
              </a:tr>
              <a:tr h="2376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SOA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29 868 468  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       -     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29 868 468   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531843452"/>
                  </a:ext>
                </a:extLst>
              </a:tr>
              <a:tr h="2376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NGOUMOU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11 391 420  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850 901   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10 540 519   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16 493 384   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325412178"/>
                  </a:ext>
                </a:extLst>
              </a:tr>
              <a:tr h="2376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MBANKOMO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12 340 705  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       -     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12 340 705   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907082939"/>
                  </a:ext>
                </a:extLst>
              </a:tr>
              <a:tr h="2376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MONATELE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20 325 054  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       -     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20 325 054   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14 125 533   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458113451"/>
                  </a:ext>
                </a:extLst>
              </a:tr>
              <a:tr h="2376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NYONG ET KELLE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7 852 107  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8 889 900  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        1 037 793  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113%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5 457 068  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491542285"/>
                  </a:ext>
                </a:extLst>
              </a:tr>
              <a:tr h="2376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NYONG ET MFOUMOU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8 415 045  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       -     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8 415 045   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5 848 299   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997999772"/>
                  </a:ext>
                </a:extLst>
              </a:tr>
              <a:tr h="2376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NYONG ET SO'O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32 202 059  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26 169 316  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6 032 743  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22 379 830  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100611429"/>
                  </a:ext>
                </a:extLst>
              </a:tr>
              <a:tr h="2376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OBALA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13 407 325  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13 407 325   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2 368 027   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643919587"/>
                  </a:ext>
                </a:extLst>
              </a:tr>
              <a:tr h="2376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SA'A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1 819 735  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1 819 735   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1 264 682   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308326358"/>
                  </a:ext>
                </a:extLst>
              </a:tr>
              <a:tr h="2376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Coordination </a:t>
                      </a:r>
                      <a:r>
                        <a:rPr lang="en-US" sz="1100" b="1" u="none" strike="no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Régionale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280 472 522  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280 472 522   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428 089 411   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609973594"/>
                  </a:ext>
                </a:extLst>
              </a:tr>
              <a:tr h="2376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Recette</a:t>
                      </a: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u="none" strike="no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Régionale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5 935 411  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5 935 411   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142973591"/>
                  </a:ext>
                </a:extLst>
              </a:tr>
              <a:tr h="2376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1 492 424 762  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735 866 546  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135 178 608  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8 868 024  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101902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7385624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66751-8A97-493C-B8DA-83B9F8D8A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EE9F8C90-E79C-F4BC-DD34-5141DFCCF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3450" y="6243349"/>
            <a:ext cx="407368" cy="365125"/>
          </a:xfrm>
          <a:solidFill>
            <a:schemeClr val="accent2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fld id="{B205AF0B-8912-4904-970B-A9F5335A4EA1}" type="slidenum">
              <a:rPr lang="fr-FR" sz="1600" b="1" smtClean="0">
                <a:solidFill>
                  <a:schemeClr val="bg1"/>
                </a:solidFill>
              </a:rPr>
              <a:pPr algn="ctr"/>
              <a:t>4</a:t>
            </a:fld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30" name="Chevron 9">
            <a:extLst>
              <a:ext uri="{FF2B5EF4-FFF2-40B4-BE49-F238E27FC236}">
                <a16:creationId xmlns:a16="http://schemas.microsoft.com/office/drawing/2014/main" id="{DFBEF600-EFD0-0440-302E-006289AA92A0}"/>
              </a:ext>
            </a:extLst>
          </p:cNvPr>
          <p:cNvSpPr/>
          <p:nvPr/>
        </p:nvSpPr>
        <p:spPr>
          <a:xfrm>
            <a:off x="6874229" y="67329"/>
            <a:ext cx="2088232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7704" h="754664">
                <a:moveTo>
                  <a:pt x="0" y="0"/>
                </a:moveTo>
                <a:lnTo>
                  <a:pt x="2358972" y="0"/>
                </a:lnTo>
                <a:lnTo>
                  <a:pt x="2507704" y="363885"/>
                </a:lnTo>
                <a:lnTo>
                  <a:pt x="2358972" y="754664"/>
                </a:lnTo>
                <a:lnTo>
                  <a:pt x="0" y="754664"/>
                </a:lnTo>
                <a:lnTo>
                  <a:pt x="135285" y="3773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Objectifs</a:t>
            </a:r>
          </a:p>
        </p:txBody>
      </p:sp>
      <p:sp>
        <p:nvSpPr>
          <p:cNvPr id="31" name="Chevron 9">
            <a:extLst>
              <a:ext uri="{FF2B5EF4-FFF2-40B4-BE49-F238E27FC236}">
                <a16:creationId xmlns:a16="http://schemas.microsoft.com/office/drawing/2014/main" id="{FA3B30E7-AD97-1677-5B34-B8E2437D4D07}"/>
              </a:ext>
            </a:extLst>
          </p:cNvPr>
          <p:cNvSpPr/>
          <p:nvPr/>
        </p:nvSpPr>
        <p:spPr>
          <a:xfrm>
            <a:off x="9213793" y="44073"/>
            <a:ext cx="2261959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7704" h="754664">
                <a:moveTo>
                  <a:pt x="0" y="0"/>
                </a:moveTo>
                <a:lnTo>
                  <a:pt x="2358972" y="0"/>
                </a:lnTo>
                <a:lnTo>
                  <a:pt x="2507704" y="363885"/>
                </a:lnTo>
                <a:lnTo>
                  <a:pt x="2358972" y="754664"/>
                </a:lnTo>
                <a:lnTo>
                  <a:pt x="0" y="754664"/>
                </a:lnTo>
                <a:lnTo>
                  <a:pt x="135285" y="3773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Hypothèses</a:t>
            </a:r>
          </a:p>
        </p:txBody>
      </p:sp>
      <p:sp>
        <p:nvSpPr>
          <p:cNvPr id="32" name="Chevron 9">
            <a:extLst>
              <a:ext uri="{FF2B5EF4-FFF2-40B4-BE49-F238E27FC236}">
                <a16:creationId xmlns:a16="http://schemas.microsoft.com/office/drawing/2014/main" id="{6DA01986-B076-FC9A-ECB4-1E43107B1EAC}"/>
              </a:ext>
            </a:extLst>
          </p:cNvPr>
          <p:cNvSpPr/>
          <p:nvPr/>
        </p:nvSpPr>
        <p:spPr>
          <a:xfrm>
            <a:off x="1919537" y="54450"/>
            <a:ext cx="2274402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  <a:gd name="connsiteX0" fmla="*/ 13795 w 2521499"/>
              <a:gd name="connsiteY0" fmla="*/ 0 h 754664"/>
              <a:gd name="connsiteX1" fmla="*/ 2372767 w 2521499"/>
              <a:gd name="connsiteY1" fmla="*/ 0 h 754664"/>
              <a:gd name="connsiteX2" fmla="*/ 2521499 w 2521499"/>
              <a:gd name="connsiteY2" fmla="*/ 363885 h 754664"/>
              <a:gd name="connsiteX3" fmla="*/ 2372767 w 2521499"/>
              <a:gd name="connsiteY3" fmla="*/ 754664 h 754664"/>
              <a:gd name="connsiteX4" fmla="*/ 13795 w 2521499"/>
              <a:gd name="connsiteY4" fmla="*/ 754664 h 754664"/>
              <a:gd name="connsiteX5" fmla="*/ 0 w 2521499"/>
              <a:gd name="connsiteY5" fmla="*/ 377332 h 754664"/>
              <a:gd name="connsiteX6" fmla="*/ 13795 w 2521499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1499" h="754664">
                <a:moveTo>
                  <a:pt x="13795" y="0"/>
                </a:moveTo>
                <a:lnTo>
                  <a:pt x="2372767" y="0"/>
                </a:lnTo>
                <a:lnTo>
                  <a:pt x="2521499" y="363885"/>
                </a:lnTo>
                <a:lnTo>
                  <a:pt x="2372767" y="754664"/>
                </a:lnTo>
                <a:lnTo>
                  <a:pt x="13795" y="754664"/>
                </a:lnTo>
                <a:lnTo>
                  <a:pt x="0" y="377332"/>
                </a:lnTo>
                <a:lnTo>
                  <a:pt x="1379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Contexte </a:t>
            </a: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140E81AD-8445-84D8-FB40-13FE6280805E}"/>
              </a:ext>
            </a:extLst>
          </p:cNvPr>
          <p:cNvCxnSpPr/>
          <p:nvPr/>
        </p:nvCxnSpPr>
        <p:spPr>
          <a:xfrm flipH="1">
            <a:off x="1919537" y="687985"/>
            <a:ext cx="10272463" cy="1"/>
          </a:xfrm>
          <a:prstGeom prst="line">
            <a:avLst/>
          </a:prstGeom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hevron 9">
            <a:extLst>
              <a:ext uri="{FF2B5EF4-FFF2-40B4-BE49-F238E27FC236}">
                <a16:creationId xmlns:a16="http://schemas.microsoft.com/office/drawing/2014/main" id="{DD03D4CA-7BEB-CAE0-F000-F90B1BDF3780}"/>
              </a:ext>
            </a:extLst>
          </p:cNvPr>
          <p:cNvSpPr/>
          <p:nvPr/>
        </p:nvSpPr>
        <p:spPr>
          <a:xfrm>
            <a:off x="4476203" y="56008"/>
            <a:ext cx="2123853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7704" h="754664">
                <a:moveTo>
                  <a:pt x="0" y="0"/>
                </a:moveTo>
                <a:lnTo>
                  <a:pt x="2358972" y="0"/>
                </a:lnTo>
                <a:lnTo>
                  <a:pt x="2507704" y="363885"/>
                </a:lnTo>
                <a:lnTo>
                  <a:pt x="2358972" y="754664"/>
                </a:lnTo>
                <a:lnTo>
                  <a:pt x="0" y="754664"/>
                </a:lnTo>
                <a:lnTo>
                  <a:pt x="135285" y="3773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problématique</a:t>
            </a:r>
          </a:p>
        </p:txBody>
      </p:sp>
      <p:pic>
        <p:nvPicPr>
          <p:cNvPr id="11" name="Picture 2" descr="I:\dgi-banner-fr.jpg">
            <a:extLst>
              <a:ext uri="{FF2B5EF4-FFF2-40B4-BE49-F238E27FC236}">
                <a16:creationId xmlns:a16="http://schemas.microsoft.com/office/drawing/2014/main" id="{42D39083-F437-92E6-9828-404ED4D57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2296" y="8753"/>
            <a:ext cx="12204296" cy="685093"/>
          </a:xfrm>
          <a:prstGeom prst="rect">
            <a:avLst/>
          </a:prstGeom>
          <a:noFill/>
        </p:spPr>
      </p:pic>
      <p:sp>
        <p:nvSpPr>
          <p:cNvPr id="13" name="Chevron 9">
            <a:extLst>
              <a:ext uri="{FF2B5EF4-FFF2-40B4-BE49-F238E27FC236}">
                <a16:creationId xmlns:a16="http://schemas.microsoft.com/office/drawing/2014/main" id="{91BC4960-1A01-17CB-3A99-7D21C0E644B1}"/>
              </a:ext>
            </a:extLst>
          </p:cNvPr>
          <p:cNvSpPr/>
          <p:nvPr/>
        </p:nvSpPr>
        <p:spPr>
          <a:xfrm>
            <a:off x="2160151" y="-4493"/>
            <a:ext cx="10031849" cy="697972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  <a:gd name="connsiteX0" fmla="*/ 13795 w 2521499"/>
              <a:gd name="connsiteY0" fmla="*/ 0 h 754664"/>
              <a:gd name="connsiteX1" fmla="*/ 2372767 w 2521499"/>
              <a:gd name="connsiteY1" fmla="*/ 0 h 754664"/>
              <a:gd name="connsiteX2" fmla="*/ 2521499 w 2521499"/>
              <a:gd name="connsiteY2" fmla="*/ 363885 h 754664"/>
              <a:gd name="connsiteX3" fmla="*/ 2372767 w 2521499"/>
              <a:gd name="connsiteY3" fmla="*/ 754664 h 754664"/>
              <a:gd name="connsiteX4" fmla="*/ 13795 w 2521499"/>
              <a:gd name="connsiteY4" fmla="*/ 754664 h 754664"/>
              <a:gd name="connsiteX5" fmla="*/ 0 w 2521499"/>
              <a:gd name="connsiteY5" fmla="*/ 377332 h 754664"/>
              <a:gd name="connsiteX6" fmla="*/ 13795 w 2521499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1499" h="754664">
                <a:moveTo>
                  <a:pt x="13795" y="0"/>
                </a:moveTo>
                <a:lnTo>
                  <a:pt x="2372767" y="0"/>
                </a:lnTo>
                <a:lnTo>
                  <a:pt x="2521499" y="363885"/>
                </a:lnTo>
                <a:lnTo>
                  <a:pt x="2372767" y="754664"/>
                </a:lnTo>
                <a:lnTo>
                  <a:pt x="13795" y="754664"/>
                </a:lnTo>
                <a:lnTo>
                  <a:pt x="0" y="377332"/>
                </a:lnTo>
                <a:lnTo>
                  <a:pt x="1379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M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DU RENDEMENT PAR FONCTION FISCALE</a:t>
            </a:r>
            <a:endParaRPr lang="fr-FR" sz="24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1F2E0115-8627-2E06-08CB-93CF51220F0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" y="8753"/>
            <a:ext cx="1343472" cy="70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07064051-C862-6437-85EB-4B37D33CF2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21720"/>
            <a:ext cx="12191996" cy="2362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886957-21A6-FA0D-8524-8202DE6D56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434212"/>
              </p:ext>
            </p:extLst>
          </p:nvPr>
        </p:nvGraphicFramePr>
        <p:xfrm>
          <a:off x="1055440" y="980728"/>
          <a:ext cx="10225136" cy="5136716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155074">
                  <a:extLst>
                    <a:ext uri="{9D8B030D-6E8A-4147-A177-3AD203B41FA5}">
                      <a16:colId xmlns:a16="http://schemas.microsoft.com/office/drawing/2014/main" val="1144157999"/>
                    </a:ext>
                  </a:extLst>
                </a:gridCol>
                <a:gridCol w="1406147">
                  <a:extLst>
                    <a:ext uri="{9D8B030D-6E8A-4147-A177-3AD203B41FA5}">
                      <a16:colId xmlns:a16="http://schemas.microsoft.com/office/drawing/2014/main" val="226035513"/>
                    </a:ext>
                  </a:extLst>
                </a:gridCol>
                <a:gridCol w="1406147">
                  <a:extLst>
                    <a:ext uri="{9D8B030D-6E8A-4147-A177-3AD203B41FA5}">
                      <a16:colId xmlns:a16="http://schemas.microsoft.com/office/drawing/2014/main" val="1533226916"/>
                    </a:ext>
                  </a:extLst>
                </a:gridCol>
                <a:gridCol w="1406147">
                  <a:extLst>
                    <a:ext uri="{9D8B030D-6E8A-4147-A177-3AD203B41FA5}">
                      <a16:colId xmlns:a16="http://schemas.microsoft.com/office/drawing/2014/main" val="4229646567"/>
                    </a:ext>
                  </a:extLst>
                </a:gridCol>
                <a:gridCol w="1314442">
                  <a:extLst>
                    <a:ext uri="{9D8B030D-6E8A-4147-A177-3AD203B41FA5}">
                      <a16:colId xmlns:a16="http://schemas.microsoft.com/office/drawing/2014/main" val="3298468255"/>
                    </a:ext>
                  </a:extLst>
                </a:gridCol>
                <a:gridCol w="1222737">
                  <a:extLst>
                    <a:ext uri="{9D8B030D-6E8A-4147-A177-3AD203B41FA5}">
                      <a16:colId xmlns:a16="http://schemas.microsoft.com/office/drawing/2014/main" val="1943990570"/>
                    </a:ext>
                  </a:extLst>
                </a:gridCol>
                <a:gridCol w="1314442">
                  <a:extLst>
                    <a:ext uri="{9D8B030D-6E8A-4147-A177-3AD203B41FA5}">
                      <a16:colId xmlns:a16="http://schemas.microsoft.com/office/drawing/2014/main" val="2039374178"/>
                    </a:ext>
                  </a:extLst>
                </a:gridCol>
              </a:tblGrid>
              <a:tr h="241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STRUCURES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DPO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VS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SOLDE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TIMBRE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CONTRÔLE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RECOUVREMENT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245456989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CIME CENTRE EXTERIEUR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973 752 492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444 350 680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135 178 608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3 980 000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8 868 024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30 016 641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594116805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NANGA-EBOKO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10 965 275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029991735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MBAM ET INOUBOU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21 161 919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720566336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MBAM ET KIM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9 786 235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226709753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MBANDJOCK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6 011 643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062441266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MFOU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31 400 184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53 476 982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23 574 500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510 994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4867019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NKOABANG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15 317 163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671596256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SOA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29 868 468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915716446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NGOUMOU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11 391 420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850 901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-  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548499954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MBANKOMO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12 340 705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537115099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MONATELE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20 325 054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767923268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NYONG ET KELLE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7 852 107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7 089 900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1 800 000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73305114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NYONG ET MFOUMOU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8 415 045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914247348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NYONG ET SO'O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32 202 059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18 270 316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7 899 000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226137478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OBALA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13 407 325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2 750 000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168 000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443744963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SA'A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1 819 735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1 459 410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322 500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960956083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Coordination Régionale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280 472 522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635929642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Recette Régionale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5 935 411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989459863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1 492 424 762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528 248 189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135 178 608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37 744 000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8 868 024  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30 527 635  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214343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6521390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97225-D8B3-6C32-1908-63C205913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C1C515BC-008F-3B69-8CE7-D8E4359B1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3450" y="6243349"/>
            <a:ext cx="407368" cy="365125"/>
          </a:xfrm>
          <a:solidFill>
            <a:schemeClr val="accent2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fld id="{B205AF0B-8912-4904-970B-A9F5335A4EA1}" type="slidenum">
              <a:rPr lang="fr-FR" sz="1600" b="1" smtClean="0">
                <a:solidFill>
                  <a:schemeClr val="bg1"/>
                </a:solidFill>
              </a:rPr>
              <a:pPr algn="ctr"/>
              <a:t>5</a:t>
            </a:fld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30" name="Chevron 9">
            <a:extLst>
              <a:ext uri="{FF2B5EF4-FFF2-40B4-BE49-F238E27FC236}">
                <a16:creationId xmlns:a16="http://schemas.microsoft.com/office/drawing/2014/main" id="{4D86BBE0-CF3B-6D36-F25F-BA727C670C2D}"/>
              </a:ext>
            </a:extLst>
          </p:cNvPr>
          <p:cNvSpPr/>
          <p:nvPr/>
        </p:nvSpPr>
        <p:spPr>
          <a:xfrm>
            <a:off x="6874229" y="67329"/>
            <a:ext cx="2088232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7704" h="754664">
                <a:moveTo>
                  <a:pt x="0" y="0"/>
                </a:moveTo>
                <a:lnTo>
                  <a:pt x="2358972" y="0"/>
                </a:lnTo>
                <a:lnTo>
                  <a:pt x="2507704" y="363885"/>
                </a:lnTo>
                <a:lnTo>
                  <a:pt x="2358972" y="754664"/>
                </a:lnTo>
                <a:lnTo>
                  <a:pt x="0" y="754664"/>
                </a:lnTo>
                <a:lnTo>
                  <a:pt x="135285" y="3773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Objectifs</a:t>
            </a:r>
          </a:p>
        </p:txBody>
      </p:sp>
      <p:sp>
        <p:nvSpPr>
          <p:cNvPr id="31" name="Chevron 9">
            <a:extLst>
              <a:ext uri="{FF2B5EF4-FFF2-40B4-BE49-F238E27FC236}">
                <a16:creationId xmlns:a16="http://schemas.microsoft.com/office/drawing/2014/main" id="{B0BA3015-8DA3-608C-61ED-EF9304D1B683}"/>
              </a:ext>
            </a:extLst>
          </p:cNvPr>
          <p:cNvSpPr/>
          <p:nvPr/>
        </p:nvSpPr>
        <p:spPr>
          <a:xfrm>
            <a:off x="9213793" y="44073"/>
            <a:ext cx="2261959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7704" h="754664">
                <a:moveTo>
                  <a:pt x="0" y="0"/>
                </a:moveTo>
                <a:lnTo>
                  <a:pt x="2358972" y="0"/>
                </a:lnTo>
                <a:lnTo>
                  <a:pt x="2507704" y="363885"/>
                </a:lnTo>
                <a:lnTo>
                  <a:pt x="2358972" y="754664"/>
                </a:lnTo>
                <a:lnTo>
                  <a:pt x="0" y="754664"/>
                </a:lnTo>
                <a:lnTo>
                  <a:pt x="135285" y="3773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Hypothèses</a:t>
            </a:r>
          </a:p>
        </p:txBody>
      </p:sp>
      <p:sp>
        <p:nvSpPr>
          <p:cNvPr id="32" name="Chevron 9">
            <a:extLst>
              <a:ext uri="{FF2B5EF4-FFF2-40B4-BE49-F238E27FC236}">
                <a16:creationId xmlns:a16="http://schemas.microsoft.com/office/drawing/2014/main" id="{E4C55A5D-122F-C706-4CE4-331FEE11A9AB}"/>
              </a:ext>
            </a:extLst>
          </p:cNvPr>
          <p:cNvSpPr/>
          <p:nvPr/>
        </p:nvSpPr>
        <p:spPr>
          <a:xfrm>
            <a:off x="1919537" y="54450"/>
            <a:ext cx="2274402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  <a:gd name="connsiteX0" fmla="*/ 13795 w 2521499"/>
              <a:gd name="connsiteY0" fmla="*/ 0 h 754664"/>
              <a:gd name="connsiteX1" fmla="*/ 2372767 w 2521499"/>
              <a:gd name="connsiteY1" fmla="*/ 0 h 754664"/>
              <a:gd name="connsiteX2" fmla="*/ 2521499 w 2521499"/>
              <a:gd name="connsiteY2" fmla="*/ 363885 h 754664"/>
              <a:gd name="connsiteX3" fmla="*/ 2372767 w 2521499"/>
              <a:gd name="connsiteY3" fmla="*/ 754664 h 754664"/>
              <a:gd name="connsiteX4" fmla="*/ 13795 w 2521499"/>
              <a:gd name="connsiteY4" fmla="*/ 754664 h 754664"/>
              <a:gd name="connsiteX5" fmla="*/ 0 w 2521499"/>
              <a:gd name="connsiteY5" fmla="*/ 377332 h 754664"/>
              <a:gd name="connsiteX6" fmla="*/ 13795 w 2521499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1499" h="754664">
                <a:moveTo>
                  <a:pt x="13795" y="0"/>
                </a:moveTo>
                <a:lnTo>
                  <a:pt x="2372767" y="0"/>
                </a:lnTo>
                <a:lnTo>
                  <a:pt x="2521499" y="363885"/>
                </a:lnTo>
                <a:lnTo>
                  <a:pt x="2372767" y="754664"/>
                </a:lnTo>
                <a:lnTo>
                  <a:pt x="13795" y="754664"/>
                </a:lnTo>
                <a:lnTo>
                  <a:pt x="0" y="377332"/>
                </a:lnTo>
                <a:lnTo>
                  <a:pt x="1379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Contexte </a:t>
            </a:r>
          </a:p>
        </p:txBody>
      </p:sp>
      <p:sp>
        <p:nvSpPr>
          <p:cNvPr id="12" name="Chevron 9">
            <a:extLst>
              <a:ext uri="{FF2B5EF4-FFF2-40B4-BE49-F238E27FC236}">
                <a16:creationId xmlns:a16="http://schemas.microsoft.com/office/drawing/2014/main" id="{4C6579FF-8D51-601C-48BD-40A5713A0AB6}"/>
              </a:ext>
            </a:extLst>
          </p:cNvPr>
          <p:cNvSpPr/>
          <p:nvPr/>
        </p:nvSpPr>
        <p:spPr>
          <a:xfrm>
            <a:off x="4476203" y="56008"/>
            <a:ext cx="2123853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7704" h="754664">
                <a:moveTo>
                  <a:pt x="0" y="0"/>
                </a:moveTo>
                <a:lnTo>
                  <a:pt x="2358972" y="0"/>
                </a:lnTo>
                <a:lnTo>
                  <a:pt x="2507704" y="363885"/>
                </a:lnTo>
                <a:lnTo>
                  <a:pt x="2358972" y="754664"/>
                </a:lnTo>
                <a:lnTo>
                  <a:pt x="0" y="754664"/>
                </a:lnTo>
                <a:lnTo>
                  <a:pt x="135285" y="3773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problématique</a:t>
            </a:r>
          </a:p>
        </p:txBody>
      </p:sp>
      <p:pic>
        <p:nvPicPr>
          <p:cNvPr id="11" name="Picture 2" descr="I:\dgi-banner-fr.jpg">
            <a:extLst>
              <a:ext uri="{FF2B5EF4-FFF2-40B4-BE49-F238E27FC236}">
                <a16:creationId xmlns:a16="http://schemas.microsoft.com/office/drawing/2014/main" id="{B473CDD8-B9AF-E479-53CE-9DDB72332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2296" y="8753"/>
            <a:ext cx="12204296" cy="685093"/>
          </a:xfrm>
          <a:prstGeom prst="rect">
            <a:avLst/>
          </a:prstGeom>
          <a:noFill/>
        </p:spPr>
      </p:pic>
      <p:sp>
        <p:nvSpPr>
          <p:cNvPr id="13" name="Chevron 9">
            <a:extLst>
              <a:ext uri="{FF2B5EF4-FFF2-40B4-BE49-F238E27FC236}">
                <a16:creationId xmlns:a16="http://schemas.microsoft.com/office/drawing/2014/main" id="{68A10326-EF24-7609-8CF0-81C9E6A03F5C}"/>
              </a:ext>
            </a:extLst>
          </p:cNvPr>
          <p:cNvSpPr/>
          <p:nvPr/>
        </p:nvSpPr>
        <p:spPr>
          <a:xfrm>
            <a:off x="2160151" y="-4493"/>
            <a:ext cx="10031849" cy="697972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  <a:gd name="connsiteX0" fmla="*/ 13795 w 2521499"/>
              <a:gd name="connsiteY0" fmla="*/ 0 h 754664"/>
              <a:gd name="connsiteX1" fmla="*/ 2372767 w 2521499"/>
              <a:gd name="connsiteY1" fmla="*/ 0 h 754664"/>
              <a:gd name="connsiteX2" fmla="*/ 2521499 w 2521499"/>
              <a:gd name="connsiteY2" fmla="*/ 363885 h 754664"/>
              <a:gd name="connsiteX3" fmla="*/ 2372767 w 2521499"/>
              <a:gd name="connsiteY3" fmla="*/ 754664 h 754664"/>
              <a:gd name="connsiteX4" fmla="*/ 13795 w 2521499"/>
              <a:gd name="connsiteY4" fmla="*/ 754664 h 754664"/>
              <a:gd name="connsiteX5" fmla="*/ 0 w 2521499"/>
              <a:gd name="connsiteY5" fmla="*/ 377332 h 754664"/>
              <a:gd name="connsiteX6" fmla="*/ 13795 w 2521499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1499" h="754664">
                <a:moveTo>
                  <a:pt x="13795" y="0"/>
                </a:moveTo>
                <a:lnTo>
                  <a:pt x="2372767" y="0"/>
                </a:lnTo>
                <a:lnTo>
                  <a:pt x="2521499" y="363885"/>
                </a:lnTo>
                <a:lnTo>
                  <a:pt x="2372767" y="754664"/>
                </a:lnTo>
                <a:lnTo>
                  <a:pt x="13795" y="754664"/>
                </a:lnTo>
                <a:lnTo>
                  <a:pt x="0" y="377332"/>
                </a:lnTo>
                <a:lnTo>
                  <a:pt x="1379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M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TAUX DE DECLARATION</a:t>
            </a:r>
            <a:endParaRPr lang="fr-FR" sz="20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3D53E5B2-A7B1-4F0C-1294-8A1F16665F0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" y="8753"/>
            <a:ext cx="1343472" cy="70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54FE8FB6-EEFF-E74D-8B16-DAD8C843B1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21720"/>
            <a:ext cx="12191996" cy="2362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616437D-9572-A9E4-6A56-57168CDDD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946717"/>
              </p:ext>
            </p:extLst>
          </p:nvPr>
        </p:nvGraphicFramePr>
        <p:xfrm>
          <a:off x="983432" y="980728"/>
          <a:ext cx="10492320" cy="5040568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404101">
                  <a:extLst>
                    <a:ext uri="{9D8B030D-6E8A-4147-A177-3AD203B41FA5}">
                      <a16:colId xmlns:a16="http://schemas.microsoft.com/office/drawing/2014/main" val="456336537"/>
                    </a:ext>
                  </a:extLst>
                </a:gridCol>
                <a:gridCol w="1341825">
                  <a:extLst>
                    <a:ext uri="{9D8B030D-6E8A-4147-A177-3AD203B41FA5}">
                      <a16:colId xmlns:a16="http://schemas.microsoft.com/office/drawing/2014/main" val="778826023"/>
                    </a:ext>
                  </a:extLst>
                </a:gridCol>
                <a:gridCol w="1845008">
                  <a:extLst>
                    <a:ext uri="{9D8B030D-6E8A-4147-A177-3AD203B41FA5}">
                      <a16:colId xmlns:a16="http://schemas.microsoft.com/office/drawing/2014/main" val="1984002337"/>
                    </a:ext>
                  </a:extLst>
                </a:gridCol>
                <a:gridCol w="1099550">
                  <a:extLst>
                    <a:ext uri="{9D8B030D-6E8A-4147-A177-3AD203B41FA5}">
                      <a16:colId xmlns:a16="http://schemas.microsoft.com/office/drawing/2014/main" val="369871848"/>
                    </a:ext>
                  </a:extLst>
                </a:gridCol>
                <a:gridCol w="950459">
                  <a:extLst>
                    <a:ext uri="{9D8B030D-6E8A-4147-A177-3AD203B41FA5}">
                      <a16:colId xmlns:a16="http://schemas.microsoft.com/office/drawing/2014/main" val="2815209992"/>
                    </a:ext>
                  </a:extLst>
                </a:gridCol>
                <a:gridCol w="950459">
                  <a:extLst>
                    <a:ext uri="{9D8B030D-6E8A-4147-A177-3AD203B41FA5}">
                      <a16:colId xmlns:a16="http://schemas.microsoft.com/office/drawing/2014/main" val="2418210852"/>
                    </a:ext>
                  </a:extLst>
                </a:gridCol>
                <a:gridCol w="950459">
                  <a:extLst>
                    <a:ext uri="{9D8B030D-6E8A-4147-A177-3AD203B41FA5}">
                      <a16:colId xmlns:a16="http://schemas.microsoft.com/office/drawing/2014/main" val="544171714"/>
                    </a:ext>
                  </a:extLst>
                </a:gridCol>
                <a:gridCol w="950459">
                  <a:extLst>
                    <a:ext uri="{9D8B030D-6E8A-4147-A177-3AD203B41FA5}">
                      <a16:colId xmlns:a16="http://schemas.microsoft.com/office/drawing/2014/main" val="3797826430"/>
                    </a:ext>
                  </a:extLst>
                </a:gridCol>
              </a:tblGrid>
              <a:tr h="827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SOUS SECTEUR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Taille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declaration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Taux de declaration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NEANT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 contributeurs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Taux de non contributeurs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451234301"/>
                  </a:ext>
                </a:extLst>
              </a:tr>
              <a:tr h="2217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Agriculture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269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7.8%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248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94.8%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443722435"/>
                  </a:ext>
                </a:extLst>
              </a:tr>
              <a:tr h="2217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Sylviculture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62.5%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50.0%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494533922"/>
                  </a:ext>
                </a:extLst>
              </a:tr>
              <a:tr h="2217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Industrie Extractive</a:t>
                      </a:r>
                      <a:endParaRPr lang="en-US" sz="1400" b="1" i="0" u="none" strike="noStrike" dirty="0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400" b="1" i="0" u="none" strike="noStrike" dirty="0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400" b="1" i="0" u="none" strike="noStrike" dirty="0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88.9%</a:t>
                      </a:r>
                      <a:endParaRPr lang="en-US" sz="1400" b="1" i="0" u="none" strike="noStrike" dirty="0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b="1" i="0" u="none" strike="noStrike" dirty="0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b="1" i="0" u="none" strike="noStrike" dirty="0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b="1" i="0" u="none" strike="noStrike" dirty="0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22.2%</a:t>
                      </a:r>
                      <a:endParaRPr lang="en-US" sz="1400" b="1" i="0" u="none" strike="noStrike" dirty="0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121685825"/>
                  </a:ext>
                </a:extLst>
              </a:tr>
              <a:tr h="2217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Industries </a:t>
                      </a:r>
                      <a:r>
                        <a:rPr lang="en-US" sz="14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Agroalimentaires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75.0%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35.0%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806784623"/>
                  </a:ext>
                </a:extLst>
              </a:tr>
              <a:tr h="2217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Industries Manufasturières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75.0%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32.1%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679163169"/>
                  </a:ext>
                </a:extLst>
              </a:tr>
              <a:tr h="2217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Eau et </a:t>
                      </a:r>
                      <a:r>
                        <a:rPr lang="en-US" sz="1400" b="1" u="none" strike="noStrike" dirty="0" err="1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Electricité</a:t>
                      </a:r>
                      <a:endParaRPr lang="en-US" sz="1400" b="1" i="0" u="none" strike="noStrike" dirty="0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b="1" i="0" u="none" strike="noStrike" dirty="0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b="1" i="0" u="none" strike="noStrike" dirty="0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100.0%</a:t>
                      </a:r>
                      <a:endParaRPr lang="en-US" sz="1400" b="1" i="0" u="none" strike="noStrike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 i="0" u="none" strike="noStrike" dirty="0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 i="0" u="none" strike="noStrike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400" b="1" i="0" u="none" strike="noStrike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0.0%</a:t>
                      </a:r>
                      <a:endParaRPr lang="en-US" sz="1400" b="1" i="0" u="none" strike="noStrike" dirty="0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967469946"/>
                  </a:ext>
                </a:extLst>
              </a:tr>
              <a:tr h="2217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Construction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66.7%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50.0%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512624859"/>
                  </a:ext>
                </a:extLst>
              </a:tr>
              <a:tr h="2217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Commerce Général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76.1%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36.1%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237617476"/>
                  </a:ext>
                </a:extLst>
              </a:tr>
              <a:tr h="2217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Prestation de Service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217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159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73.3%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47.5%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83600053"/>
                  </a:ext>
                </a:extLst>
              </a:tr>
              <a:tr h="2217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Vente de Boisson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70.4%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31.5%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282828597"/>
                  </a:ext>
                </a:extLst>
              </a:tr>
              <a:tr h="2217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Restaurant et </a:t>
                      </a:r>
                      <a:r>
                        <a:rPr lang="en-US" sz="1400" b="1" u="none" strike="noStrike" dirty="0" err="1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Hébergement</a:t>
                      </a:r>
                      <a:endParaRPr lang="en-US" sz="1400" b="1" i="0" u="none" strike="noStrike" dirty="0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US" sz="1400" b="1" i="0" u="none" strike="noStrike" dirty="0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en-US" sz="1400" b="1" i="0" u="none" strike="noStrike" dirty="0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92.5%</a:t>
                      </a:r>
                      <a:endParaRPr lang="en-US" sz="1400" b="1" i="0" u="none" strike="noStrike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b="1" i="0" u="none" strike="noStrike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b="1" i="0" u="none" strike="noStrike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400" b="1" i="0" u="none" strike="noStrike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10.0%</a:t>
                      </a:r>
                      <a:endParaRPr lang="en-US" sz="1400" b="1" i="0" u="none" strike="noStrike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534280816"/>
                  </a:ext>
                </a:extLst>
              </a:tr>
              <a:tr h="2217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Transport et communication</a:t>
                      </a:r>
                      <a:endParaRPr lang="en-US" sz="1400" b="1" i="0" u="none" strike="noStrike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1400" b="1" i="0" u="none" strike="noStrike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400" b="1" i="0" u="none" strike="noStrike" dirty="0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63.6%</a:t>
                      </a:r>
                      <a:endParaRPr lang="en-US" sz="1400" b="1" i="0" u="none" strike="noStrike" dirty="0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400" b="1" i="0" u="none" strike="noStrike" dirty="0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b="1" i="0" u="none" strike="noStrike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400" b="1" i="0" u="none" strike="noStrike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54.5%</a:t>
                      </a:r>
                      <a:endParaRPr lang="en-US" sz="1400" b="1" i="0" u="none" strike="noStrike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299424900"/>
                  </a:ext>
                </a:extLst>
              </a:tr>
              <a:tr h="2217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Banques et Assurance</a:t>
                      </a:r>
                      <a:endParaRPr lang="en-US" sz="1400" b="1" i="0" u="none" strike="noStrike" dirty="0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1400" b="1" i="0" u="none" strike="noStrike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sz="1400" b="1" i="0" u="none" strike="noStrike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92.9%</a:t>
                      </a:r>
                      <a:endParaRPr lang="en-US" sz="1400" b="1" i="0" u="none" strike="noStrike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b="1" i="0" u="none" strike="noStrike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 i="0" u="none" strike="noStrike" dirty="0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b="1" i="0" u="none" strike="noStrike" dirty="0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42B32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7.1%</a:t>
                      </a:r>
                      <a:endParaRPr lang="en-US" sz="1400" b="1" i="0" u="none" strike="noStrike" dirty="0">
                        <a:solidFill>
                          <a:srgbClr val="42B32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034485255"/>
                  </a:ext>
                </a:extLst>
              </a:tr>
              <a:tr h="2217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Services marchands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74.1%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25.9%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562327773"/>
                  </a:ext>
                </a:extLst>
              </a:tr>
              <a:tr h="2217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Administration Publique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35.6%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76.2%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068381173"/>
                  </a:ext>
                </a:extLst>
              </a:tr>
              <a:tr h="2217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2339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295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12.6%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2044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2070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88.5%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37583966"/>
                  </a:ext>
                </a:extLst>
              </a:tr>
              <a:tr h="2217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 non marchands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504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8.9%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459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466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92.5%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40949471"/>
                  </a:ext>
                </a:extLst>
              </a:tr>
              <a:tr h="2217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#N/A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48.4%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61.3%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001706873"/>
                  </a:ext>
                </a:extLst>
              </a:tr>
              <a:tr h="2217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CIMEXT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4065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24.9%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3051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147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3198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78.7%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535936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1800637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DDA39-230E-5654-44B4-726DA2520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0AD5F21E-82AC-74CC-4DAF-09DA24DAD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3450" y="6243349"/>
            <a:ext cx="407368" cy="365125"/>
          </a:xfrm>
          <a:solidFill>
            <a:schemeClr val="accent2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fld id="{B205AF0B-8912-4904-970B-A9F5335A4EA1}" type="slidenum">
              <a:rPr lang="fr-FR" sz="1600" b="1" smtClean="0">
                <a:solidFill>
                  <a:schemeClr val="bg1"/>
                </a:solidFill>
              </a:rPr>
              <a:pPr algn="ctr"/>
              <a:t>6</a:t>
            </a:fld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30" name="Chevron 9">
            <a:extLst>
              <a:ext uri="{FF2B5EF4-FFF2-40B4-BE49-F238E27FC236}">
                <a16:creationId xmlns:a16="http://schemas.microsoft.com/office/drawing/2014/main" id="{1CDAD0D2-F831-CE0C-248F-E9C9843CBB36}"/>
              </a:ext>
            </a:extLst>
          </p:cNvPr>
          <p:cNvSpPr/>
          <p:nvPr/>
        </p:nvSpPr>
        <p:spPr>
          <a:xfrm>
            <a:off x="6874229" y="67329"/>
            <a:ext cx="2088232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7704" h="754664">
                <a:moveTo>
                  <a:pt x="0" y="0"/>
                </a:moveTo>
                <a:lnTo>
                  <a:pt x="2358972" y="0"/>
                </a:lnTo>
                <a:lnTo>
                  <a:pt x="2507704" y="363885"/>
                </a:lnTo>
                <a:lnTo>
                  <a:pt x="2358972" y="754664"/>
                </a:lnTo>
                <a:lnTo>
                  <a:pt x="0" y="754664"/>
                </a:lnTo>
                <a:lnTo>
                  <a:pt x="135285" y="3773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Objectifs</a:t>
            </a:r>
          </a:p>
        </p:txBody>
      </p:sp>
      <p:sp>
        <p:nvSpPr>
          <p:cNvPr id="31" name="Chevron 9">
            <a:extLst>
              <a:ext uri="{FF2B5EF4-FFF2-40B4-BE49-F238E27FC236}">
                <a16:creationId xmlns:a16="http://schemas.microsoft.com/office/drawing/2014/main" id="{7F1E56A1-C4B6-5C9E-948F-B5A5559E1CFB}"/>
              </a:ext>
            </a:extLst>
          </p:cNvPr>
          <p:cNvSpPr/>
          <p:nvPr/>
        </p:nvSpPr>
        <p:spPr>
          <a:xfrm>
            <a:off x="9213793" y="44073"/>
            <a:ext cx="2261959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7704" h="754664">
                <a:moveTo>
                  <a:pt x="0" y="0"/>
                </a:moveTo>
                <a:lnTo>
                  <a:pt x="2358972" y="0"/>
                </a:lnTo>
                <a:lnTo>
                  <a:pt x="2507704" y="363885"/>
                </a:lnTo>
                <a:lnTo>
                  <a:pt x="2358972" y="754664"/>
                </a:lnTo>
                <a:lnTo>
                  <a:pt x="0" y="754664"/>
                </a:lnTo>
                <a:lnTo>
                  <a:pt x="135285" y="3773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Hypothèses</a:t>
            </a:r>
          </a:p>
        </p:txBody>
      </p:sp>
      <p:sp>
        <p:nvSpPr>
          <p:cNvPr id="32" name="Chevron 9">
            <a:extLst>
              <a:ext uri="{FF2B5EF4-FFF2-40B4-BE49-F238E27FC236}">
                <a16:creationId xmlns:a16="http://schemas.microsoft.com/office/drawing/2014/main" id="{D1945CB4-C863-2CAC-ECE4-D6BB60F11500}"/>
              </a:ext>
            </a:extLst>
          </p:cNvPr>
          <p:cNvSpPr/>
          <p:nvPr/>
        </p:nvSpPr>
        <p:spPr>
          <a:xfrm>
            <a:off x="1919537" y="54450"/>
            <a:ext cx="2274402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  <a:gd name="connsiteX0" fmla="*/ 13795 w 2521499"/>
              <a:gd name="connsiteY0" fmla="*/ 0 h 754664"/>
              <a:gd name="connsiteX1" fmla="*/ 2372767 w 2521499"/>
              <a:gd name="connsiteY1" fmla="*/ 0 h 754664"/>
              <a:gd name="connsiteX2" fmla="*/ 2521499 w 2521499"/>
              <a:gd name="connsiteY2" fmla="*/ 363885 h 754664"/>
              <a:gd name="connsiteX3" fmla="*/ 2372767 w 2521499"/>
              <a:gd name="connsiteY3" fmla="*/ 754664 h 754664"/>
              <a:gd name="connsiteX4" fmla="*/ 13795 w 2521499"/>
              <a:gd name="connsiteY4" fmla="*/ 754664 h 754664"/>
              <a:gd name="connsiteX5" fmla="*/ 0 w 2521499"/>
              <a:gd name="connsiteY5" fmla="*/ 377332 h 754664"/>
              <a:gd name="connsiteX6" fmla="*/ 13795 w 2521499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1499" h="754664">
                <a:moveTo>
                  <a:pt x="13795" y="0"/>
                </a:moveTo>
                <a:lnTo>
                  <a:pt x="2372767" y="0"/>
                </a:lnTo>
                <a:lnTo>
                  <a:pt x="2521499" y="363885"/>
                </a:lnTo>
                <a:lnTo>
                  <a:pt x="2372767" y="754664"/>
                </a:lnTo>
                <a:lnTo>
                  <a:pt x="13795" y="754664"/>
                </a:lnTo>
                <a:lnTo>
                  <a:pt x="0" y="377332"/>
                </a:lnTo>
                <a:lnTo>
                  <a:pt x="1379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Contexte </a:t>
            </a:r>
          </a:p>
        </p:txBody>
      </p:sp>
      <p:sp>
        <p:nvSpPr>
          <p:cNvPr id="12" name="Chevron 9">
            <a:extLst>
              <a:ext uri="{FF2B5EF4-FFF2-40B4-BE49-F238E27FC236}">
                <a16:creationId xmlns:a16="http://schemas.microsoft.com/office/drawing/2014/main" id="{1C25A584-C049-19F2-DD86-1D3E9EF0ED01}"/>
              </a:ext>
            </a:extLst>
          </p:cNvPr>
          <p:cNvSpPr/>
          <p:nvPr/>
        </p:nvSpPr>
        <p:spPr>
          <a:xfrm>
            <a:off x="4476203" y="56008"/>
            <a:ext cx="2123853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7704" h="754664">
                <a:moveTo>
                  <a:pt x="0" y="0"/>
                </a:moveTo>
                <a:lnTo>
                  <a:pt x="2358972" y="0"/>
                </a:lnTo>
                <a:lnTo>
                  <a:pt x="2507704" y="363885"/>
                </a:lnTo>
                <a:lnTo>
                  <a:pt x="2358972" y="754664"/>
                </a:lnTo>
                <a:lnTo>
                  <a:pt x="0" y="754664"/>
                </a:lnTo>
                <a:lnTo>
                  <a:pt x="135285" y="3773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problématique</a:t>
            </a:r>
          </a:p>
        </p:txBody>
      </p:sp>
      <p:pic>
        <p:nvPicPr>
          <p:cNvPr id="11" name="Picture 2" descr="I:\dgi-banner-fr.jpg">
            <a:extLst>
              <a:ext uri="{FF2B5EF4-FFF2-40B4-BE49-F238E27FC236}">
                <a16:creationId xmlns:a16="http://schemas.microsoft.com/office/drawing/2014/main" id="{FD939ECB-A251-D499-6579-26417FC13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2296" y="8753"/>
            <a:ext cx="12204296" cy="685093"/>
          </a:xfrm>
          <a:prstGeom prst="rect">
            <a:avLst/>
          </a:prstGeom>
          <a:noFill/>
        </p:spPr>
      </p:pic>
      <p:sp>
        <p:nvSpPr>
          <p:cNvPr id="13" name="Chevron 9">
            <a:extLst>
              <a:ext uri="{FF2B5EF4-FFF2-40B4-BE49-F238E27FC236}">
                <a16:creationId xmlns:a16="http://schemas.microsoft.com/office/drawing/2014/main" id="{4896CFE1-8DBF-A6D5-C125-7E0C5879FEA8}"/>
              </a:ext>
            </a:extLst>
          </p:cNvPr>
          <p:cNvSpPr/>
          <p:nvPr/>
        </p:nvSpPr>
        <p:spPr>
          <a:xfrm>
            <a:off x="2160151" y="-4493"/>
            <a:ext cx="10031849" cy="697972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  <a:gd name="connsiteX0" fmla="*/ 13795 w 2521499"/>
              <a:gd name="connsiteY0" fmla="*/ 0 h 754664"/>
              <a:gd name="connsiteX1" fmla="*/ 2372767 w 2521499"/>
              <a:gd name="connsiteY1" fmla="*/ 0 h 754664"/>
              <a:gd name="connsiteX2" fmla="*/ 2521499 w 2521499"/>
              <a:gd name="connsiteY2" fmla="*/ 363885 h 754664"/>
              <a:gd name="connsiteX3" fmla="*/ 2372767 w 2521499"/>
              <a:gd name="connsiteY3" fmla="*/ 754664 h 754664"/>
              <a:gd name="connsiteX4" fmla="*/ 13795 w 2521499"/>
              <a:gd name="connsiteY4" fmla="*/ 754664 h 754664"/>
              <a:gd name="connsiteX5" fmla="*/ 0 w 2521499"/>
              <a:gd name="connsiteY5" fmla="*/ 377332 h 754664"/>
              <a:gd name="connsiteX6" fmla="*/ 13795 w 2521499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1499" h="754664">
                <a:moveTo>
                  <a:pt x="13795" y="0"/>
                </a:moveTo>
                <a:lnTo>
                  <a:pt x="2372767" y="0"/>
                </a:lnTo>
                <a:lnTo>
                  <a:pt x="2521499" y="363885"/>
                </a:lnTo>
                <a:lnTo>
                  <a:pt x="2372767" y="754664"/>
                </a:lnTo>
                <a:lnTo>
                  <a:pt x="13795" y="754664"/>
                </a:lnTo>
                <a:lnTo>
                  <a:pt x="0" y="377332"/>
                </a:lnTo>
                <a:lnTo>
                  <a:pt x="1379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M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TAUX DE DECLARATION PAR STRUCTURE DE GESTION</a:t>
            </a:r>
            <a:endParaRPr lang="fr-FR" sz="20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1098E21D-B3EE-8855-7AD3-CC713B554A5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" y="8753"/>
            <a:ext cx="1343472" cy="70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02EE928D-FA85-5534-4EB4-D2759FDAC8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21720"/>
            <a:ext cx="12191996" cy="2362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98C1D9F-3186-4844-29AB-DA8E08A27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671906"/>
              </p:ext>
            </p:extLst>
          </p:nvPr>
        </p:nvGraphicFramePr>
        <p:xfrm>
          <a:off x="1199456" y="1196752"/>
          <a:ext cx="10363992" cy="425052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295499">
                  <a:extLst>
                    <a:ext uri="{9D8B030D-6E8A-4147-A177-3AD203B41FA5}">
                      <a16:colId xmlns:a16="http://schemas.microsoft.com/office/drawing/2014/main" val="2782454283"/>
                    </a:ext>
                  </a:extLst>
                </a:gridCol>
                <a:gridCol w="1295499">
                  <a:extLst>
                    <a:ext uri="{9D8B030D-6E8A-4147-A177-3AD203B41FA5}">
                      <a16:colId xmlns:a16="http://schemas.microsoft.com/office/drawing/2014/main" val="3251502053"/>
                    </a:ext>
                  </a:extLst>
                </a:gridCol>
                <a:gridCol w="1295499">
                  <a:extLst>
                    <a:ext uri="{9D8B030D-6E8A-4147-A177-3AD203B41FA5}">
                      <a16:colId xmlns:a16="http://schemas.microsoft.com/office/drawing/2014/main" val="173985825"/>
                    </a:ext>
                  </a:extLst>
                </a:gridCol>
                <a:gridCol w="1295499">
                  <a:extLst>
                    <a:ext uri="{9D8B030D-6E8A-4147-A177-3AD203B41FA5}">
                      <a16:colId xmlns:a16="http://schemas.microsoft.com/office/drawing/2014/main" val="1744365568"/>
                    </a:ext>
                  </a:extLst>
                </a:gridCol>
                <a:gridCol w="1295499">
                  <a:extLst>
                    <a:ext uri="{9D8B030D-6E8A-4147-A177-3AD203B41FA5}">
                      <a16:colId xmlns:a16="http://schemas.microsoft.com/office/drawing/2014/main" val="1648315222"/>
                    </a:ext>
                  </a:extLst>
                </a:gridCol>
                <a:gridCol w="1295499">
                  <a:extLst>
                    <a:ext uri="{9D8B030D-6E8A-4147-A177-3AD203B41FA5}">
                      <a16:colId xmlns:a16="http://schemas.microsoft.com/office/drawing/2014/main" val="185729832"/>
                    </a:ext>
                  </a:extLst>
                </a:gridCol>
                <a:gridCol w="1295499">
                  <a:extLst>
                    <a:ext uri="{9D8B030D-6E8A-4147-A177-3AD203B41FA5}">
                      <a16:colId xmlns:a16="http://schemas.microsoft.com/office/drawing/2014/main" val="2913982952"/>
                    </a:ext>
                  </a:extLst>
                </a:gridCol>
                <a:gridCol w="1295499">
                  <a:extLst>
                    <a:ext uri="{9D8B030D-6E8A-4147-A177-3AD203B41FA5}">
                      <a16:colId xmlns:a16="http://schemas.microsoft.com/office/drawing/2014/main" val="4127532590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SECTEURS CIME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Taille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declaration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Taux de declaration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NEANT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 contributeurs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Taux de non contributeurs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058700086"/>
                  </a:ext>
                </a:extLst>
              </a:tr>
              <a:tr h="3274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OBNL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3179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350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11.0%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2829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2867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90.2%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92065859"/>
                  </a:ext>
                </a:extLst>
              </a:tr>
              <a:tr h="3274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POOL 1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100.0%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0.0%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404334194"/>
                  </a:ext>
                </a:extLst>
              </a:tr>
              <a:tr h="3274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POOL 2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84.6%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46.2%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99689836"/>
                  </a:ext>
                </a:extLst>
              </a:tr>
              <a:tr h="3274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POOL 3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92.2%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7.8%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147062936"/>
                  </a:ext>
                </a:extLst>
              </a:tr>
              <a:tr h="3274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SECTEUR 1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86.8%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25.0%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107999117"/>
                  </a:ext>
                </a:extLst>
              </a:tr>
              <a:tr h="3274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SECTEUR 2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217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179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82.5%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23.5%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312761759"/>
                  </a:ext>
                </a:extLst>
              </a:tr>
              <a:tr h="3274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SECTEUR 3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87.5%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18.8%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180561134"/>
                  </a:ext>
                </a:extLst>
              </a:tr>
              <a:tr h="3274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SECTEUR 4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95.8%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20.8%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764818188"/>
                  </a:ext>
                </a:extLst>
              </a:tr>
              <a:tr h="3274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SECTEUR 5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285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220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77.2%</a:t>
                      </a:r>
                      <a:endParaRPr lang="en-US" sz="16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  <a:endParaRPr lang="en-US" sz="16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en-US" sz="16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121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42.5%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246860401"/>
                  </a:ext>
                </a:extLst>
              </a:tr>
              <a:tr h="3274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#N/A</a:t>
                      </a:r>
                      <a:endParaRPr lang="en-US" sz="16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134</a:t>
                      </a:r>
                      <a:endParaRPr lang="en-US" sz="16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en-US" sz="16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29.1%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</a:t>
                      </a:r>
                      <a:endParaRPr lang="en-US" sz="16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79.1%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082587116"/>
                  </a:ext>
                </a:extLst>
              </a:tr>
              <a:tr h="3274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CIMEXT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4066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1014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24.9%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3052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3199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78.7%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888509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7287670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8C76F-4E1D-6724-1B8D-4981F05C5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3146C1E2-1B46-DFDD-6FED-2E21915AE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0616" y="6269900"/>
            <a:ext cx="407368" cy="365125"/>
          </a:xfrm>
          <a:solidFill>
            <a:schemeClr val="accent2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fld id="{B205AF0B-8912-4904-970B-A9F5335A4EA1}" type="slidenum">
              <a:rPr lang="fr-FR" sz="1600" b="1" smtClean="0">
                <a:solidFill>
                  <a:schemeClr val="bg1"/>
                </a:solidFill>
              </a:rPr>
              <a:pPr algn="ctr"/>
              <a:t>8</a:t>
            </a:fld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30" name="Chevron 9">
            <a:extLst>
              <a:ext uri="{FF2B5EF4-FFF2-40B4-BE49-F238E27FC236}">
                <a16:creationId xmlns:a16="http://schemas.microsoft.com/office/drawing/2014/main" id="{D145D373-4201-B8A0-D2F6-A2E71F3580E5}"/>
              </a:ext>
            </a:extLst>
          </p:cNvPr>
          <p:cNvSpPr/>
          <p:nvPr/>
        </p:nvSpPr>
        <p:spPr>
          <a:xfrm>
            <a:off x="6874229" y="67329"/>
            <a:ext cx="2088232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7704" h="754664">
                <a:moveTo>
                  <a:pt x="0" y="0"/>
                </a:moveTo>
                <a:lnTo>
                  <a:pt x="2358972" y="0"/>
                </a:lnTo>
                <a:lnTo>
                  <a:pt x="2507704" y="363885"/>
                </a:lnTo>
                <a:lnTo>
                  <a:pt x="2358972" y="754664"/>
                </a:lnTo>
                <a:lnTo>
                  <a:pt x="0" y="754664"/>
                </a:lnTo>
                <a:lnTo>
                  <a:pt x="135285" y="3773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Objectifs</a:t>
            </a:r>
          </a:p>
        </p:txBody>
      </p:sp>
      <p:sp>
        <p:nvSpPr>
          <p:cNvPr id="31" name="Chevron 9">
            <a:extLst>
              <a:ext uri="{FF2B5EF4-FFF2-40B4-BE49-F238E27FC236}">
                <a16:creationId xmlns:a16="http://schemas.microsoft.com/office/drawing/2014/main" id="{12A4EE08-6235-FC85-DF56-6F4D0506B7D6}"/>
              </a:ext>
            </a:extLst>
          </p:cNvPr>
          <p:cNvSpPr/>
          <p:nvPr/>
        </p:nvSpPr>
        <p:spPr>
          <a:xfrm>
            <a:off x="9213793" y="44073"/>
            <a:ext cx="2261959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7704" h="754664">
                <a:moveTo>
                  <a:pt x="0" y="0"/>
                </a:moveTo>
                <a:lnTo>
                  <a:pt x="2358972" y="0"/>
                </a:lnTo>
                <a:lnTo>
                  <a:pt x="2507704" y="363885"/>
                </a:lnTo>
                <a:lnTo>
                  <a:pt x="2358972" y="754664"/>
                </a:lnTo>
                <a:lnTo>
                  <a:pt x="0" y="754664"/>
                </a:lnTo>
                <a:lnTo>
                  <a:pt x="135285" y="3773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Hypothèses</a:t>
            </a:r>
          </a:p>
        </p:txBody>
      </p:sp>
      <p:sp>
        <p:nvSpPr>
          <p:cNvPr id="32" name="Chevron 9">
            <a:extLst>
              <a:ext uri="{FF2B5EF4-FFF2-40B4-BE49-F238E27FC236}">
                <a16:creationId xmlns:a16="http://schemas.microsoft.com/office/drawing/2014/main" id="{4D699805-2FEB-2FAA-F0C6-F2C5515EF6A2}"/>
              </a:ext>
            </a:extLst>
          </p:cNvPr>
          <p:cNvSpPr/>
          <p:nvPr/>
        </p:nvSpPr>
        <p:spPr>
          <a:xfrm>
            <a:off x="1919537" y="54450"/>
            <a:ext cx="2274402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  <a:gd name="connsiteX0" fmla="*/ 13795 w 2521499"/>
              <a:gd name="connsiteY0" fmla="*/ 0 h 754664"/>
              <a:gd name="connsiteX1" fmla="*/ 2372767 w 2521499"/>
              <a:gd name="connsiteY1" fmla="*/ 0 h 754664"/>
              <a:gd name="connsiteX2" fmla="*/ 2521499 w 2521499"/>
              <a:gd name="connsiteY2" fmla="*/ 363885 h 754664"/>
              <a:gd name="connsiteX3" fmla="*/ 2372767 w 2521499"/>
              <a:gd name="connsiteY3" fmla="*/ 754664 h 754664"/>
              <a:gd name="connsiteX4" fmla="*/ 13795 w 2521499"/>
              <a:gd name="connsiteY4" fmla="*/ 754664 h 754664"/>
              <a:gd name="connsiteX5" fmla="*/ 0 w 2521499"/>
              <a:gd name="connsiteY5" fmla="*/ 377332 h 754664"/>
              <a:gd name="connsiteX6" fmla="*/ 13795 w 2521499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1499" h="754664">
                <a:moveTo>
                  <a:pt x="13795" y="0"/>
                </a:moveTo>
                <a:lnTo>
                  <a:pt x="2372767" y="0"/>
                </a:lnTo>
                <a:lnTo>
                  <a:pt x="2521499" y="363885"/>
                </a:lnTo>
                <a:lnTo>
                  <a:pt x="2372767" y="754664"/>
                </a:lnTo>
                <a:lnTo>
                  <a:pt x="13795" y="754664"/>
                </a:lnTo>
                <a:lnTo>
                  <a:pt x="0" y="377332"/>
                </a:lnTo>
                <a:lnTo>
                  <a:pt x="1379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Contexte </a:t>
            </a: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FB59E115-20A1-4B80-04D5-82BF29CB6258}"/>
              </a:ext>
            </a:extLst>
          </p:cNvPr>
          <p:cNvCxnSpPr/>
          <p:nvPr/>
        </p:nvCxnSpPr>
        <p:spPr>
          <a:xfrm flipH="1">
            <a:off x="1919537" y="687985"/>
            <a:ext cx="10272463" cy="1"/>
          </a:xfrm>
          <a:prstGeom prst="line">
            <a:avLst/>
          </a:prstGeom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hevron 9">
            <a:extLst>
              <a:ext uri="{FF2B5EF4-FFF2-40B4-BE49-F238E27FC236}">
                <a16:creationId xmlns:a16="http://schemas.microsoft.com/office/drawing/2014/main" id="{BF2982D4-2AA7-EA12-86B5-48CF68BFDFB3}"/>
              </a:ext>
            </a:extLst>
          </p:cNvPr>
          <p:cNvSpPr/>
          <p:nvPr/>
        </p:nvSpPr>
        <p:spPr>
          <a:xfrm>
            <a:off x="4476203" y="56008"/>
            <a:ext cx="2123853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7704" h="754664">
                <a:moveTo>
                  <a:pt x="0" y="0"/>
                </a:moveTo>
                <a:lnTo>
                  <a:pt x="2358972" y="0"/>
                </a:lnTo>
                <a:lnTo>
                  <a:pt x="2507704" y="363885"/>
                </a:lnTo>
                <a:lnTo>
                  <a:pt x="2358972" y="754664"/>
                </a:lnTo>
                <a:lnTo>
                  <a:pt x="0" y="754664"/>
                </a:lnTo>
                <a:lnTo>
                  <a:pt x="135285" y="3773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problématique</a:t>
            </a:r>
          </a:p>
        </p:txBody>
      </p:sp>
      <p:pic>
        <p:nvPicPr>
          <p:cNvPr id="11" name="Picture 2" descr="I:\dgi-banner-fr.jpg">
            <a:extLst>
              <a:ext uri="{FF2B5EF4-FFF2-40B4-BE49-F238E27FC236}">
                <a16:creationId xmlns:a16="http://schemas.microsoft.com/office/drawing/2014/main" id="{202C4F1D-DE4A-5C7A-DBDA-37EC49925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2296" y="8753"/>
            <a:ext cx="12204296" cy="685093"/>
          </a:xfrm>
          <a:prstGeom prst="rect">
            <a:avLst/>
          </a:prstGeom>
          <a:noFill/>
        </p:spPr>
      </p:pic>
      <p:sp>
        <p:nvSpPr>
          <p:cNvPr id="13" name="Chevron 9">
            <a:extLst>
              <a:ext uri="{FF2B5EF4-FFF2-40B4-BE49-F238E27FC236}">
                <a16:creationId xmlns:a16="http://schemas.microsoft.com/office/drawing/2014/main" id="{806A186F-FF57-2F6D-A471-37744392509E}"/>
              </a:ext>
            </a:extLst>
          </p:cNvPr>
          <p:cNvSpPr/>
          <p:nvPr/>
        </p:nvSpPr>
        <p:spPr>
          <a:xfrm>
            <a:off x="2160151" y="-4126"/>
            <a:ext cx="10031849" cy="697972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  <a:gd name="connsiteX0" fmla="*/ 13795 w 2521499"/>
              <a:gd name="connsiteY0" fmla="*/ 0 h 754664"/>
              <a:gd name="connsiteX1" fmla="*/ 2372767 w 2521499"/>
              <a:gd name="connsiteY1" fmla="*/ 0 h 754664"/>
              <a:gd name="connsiteX2" fmla="*/ 2521499 w 2521499"/>
              <a:gd name="connsiteY2" fmla="*/ 363885 h 754664"/>
              <a:gd name="connsiteX3" fmla="*/ 2372767 w 2521499"/>
              <a:gd name="connsiteY3" fmla="*/ 754664 h 754664"/>
              <a:gd name="connsiteX4" fmla="*/ 13795 w 2521499"/>
              <a:gd name="connsiteY4" fmla="*/ 754664 h 754664"/>
              <a:gd name="connsiteX5" fmla="*/ 0 w 2521499"/>
              <a:gd name="connsiteY5" fmla="*/ 377332 h 754664"/>
              <a:gd name="connsiteX6" fmla="*/ 13795 w 2521499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1499" h="754664">
                <a:moveTo>
                  <a:pt x="13795" y="0"/>
                </a:moveTo>
                <a:lnTo>
                  <a:pt x="2372767" y="0"/>
                </a:lnTo>
                <a:lnTo>
                  <a:pt x="2521499" y="363885"/>
                </a:lnTo>
                <a:lnTo>
                  <a:pt x="2372767" y="754664"/>
                </a:lnTo>
                <a:lnTo>
                  <a:pt x="13795" y="754664"/>
                </a:lnTo>
                <a:lnTo>
                  <a:pt x="0" y="377332"/>
                </a:lnTo>
                <a:lnTo>
                  <a:pt x="1379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M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DE L’ACTIVITE DE JANV A MAI</a:t>
            </a:r>
            <a:endParaRPr lang="fr-FR" sz="32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235822F2-89E8-FD61-E6AC-B9E776F4DF7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" y="8753"/>
            <a:ext cx="1343472" cy="70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5366878-6B3E-E90D-C3F7-6369A3C664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21720"/>
            <a:ext cx="12191996" cy="2362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7D4BD6-5096-BA1F-C64B-CEA3C368D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371301"/>
              </p:ext>
            </p:extLst>
          </p:nvPr>
        </p:nvGraphicFramePr>
        <p:xfrm>
          <a:off x="1347283" y="985173"/>
          <a:ext cx="9861285" cy="48921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777525">
                  <a:extLst>
                    <a:ext uri="{9D8B030D-6E8A-4147-A177-3AD203B41FA5}">
                      <a16:colId xmlns:a16="http://schemas.microsoft.com/office/drawing/2014/main" val="4164844143"/>
                    </a:ext>
                  </a:extLst>
                </a:gridCol>
                <a:gridCol w="1550245">
                  <a:extLst>
                    <a:ext uri="{9D8B030D-6E8A-4147-A177-3AD203B41FA5}">
                      <a16:colId xmlns:a16="http://schemas.microsoft.com/office/drawing/2014/main" val="713025362"/>
                    </a:ext>
                  </a:extLst>
                </a:gridCol>
                <a:gridCol w="2131587">
                  <a:extLst>
                    <a:ext uri="{9D8B030D-6E8A-4147-A177-3AD203B41FA5}">
                      <a16:colId xmlns:a16="http://schemas.microsoft.com/office/drawing/2014/main" val="251880310"/>
                    </a:ext>
                  </a:extLst>
                </a:gridCol>
                <a:gridCol w="2110056">
                  <a:extLst>
                    <a:ext uri="{9D8B030D-6E8A-4147-A177-3AD203B41FA5}">
                      <a16:colId xmlns:a16="http://schemas.microsoft.com/office/drawing/2014/main" val="3615860741"/>
                    </a:ext>
                  </a:extLst>
                </a:gridCol>
                <a:gridCol w="1291872">
                  <a:extLst>
                    <a:ext uri="{9D8B030D-6E8A-4147-A177-3AD203B41FA5}">
                      <a16:colId xmlns:a16="http://schemas.microsoft.com/office/drawing/2014/main" val="1757248241"/>
                    </a:ext>
                  </a:extLst>
                </a:gridCol>
              </a:tblGrid>
              <a:tr h="2446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SOUS SECTEUR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 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 2025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Ecart absolu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Evolution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009004705"/>
                  </a:ext>
                </a:extLst>
              </a:tr>
              <a:tr h="2446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Agriculture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783 193 955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217 301 491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565 892 464</a:t>
                      </a:r>
                      <a:endParaRPr lang="en-US" sz="12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260.4%</a:t>
                      </a:r>
                      <a:endParaRPr lang="en-US" sz="12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136988259"/>
                  </a:ext>
                </a:extLst>
              </a:tr>
              <a:tr h="2446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Sylviculture</a:t>
                      </a:r>
                      <a:endParaRPr lang="en-US" sz="12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297 322 906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102 685 130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194 637 776</a:t>
                      </a:r>
                      <a:endParaRPr lang="en-US" sz="12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189.5%</a:t>
                      </a:r>
                      <a:endParaRPr lang="en-US" sz="12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873611775"/>
                  </a:ext>
                </a:extLst>
              </a:tr>
              <a:tr h="2446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Industrie Extractive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1 171 915 294</a:t>
                      </a:r>
                      <a:endParaRPr lang="en-US" sz="12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1 073 539 276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98 376 018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9.2%</a:t>
                      </a:r>
                      <a:endParaRPr lang="en-US" sz="12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39758598"/>
                  </a:ext>
                </a:extLst>
              </a:tr>
              <a:tr h="2446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Industries </a:t>
                      </a:r>
                      <a:r>
                        <a:rPr lang="en-US" sz="1200" b="1" u="none" strike="noStrike" dirty="0" err="1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Agroalimentaires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333 592 391</a:t>
                      </a:r>
                      <a:endParaRPr lang="en-US" sz="12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291 452 164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42 140 227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14.5%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736779795"/>
                  </a:ext>
                </a:extLst>
              </a:tr>
              <a:tr h="2446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Industries Manufasturières</a:t>
                      </a:r>
                      <a:endParaRPr lang="en-US" sz="12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4 558 062 971</a:t>
                      </a:r>
                      <a:endParaRPr lang="en-US" sz="12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2 317 664 304</a:t>
                      </a:r>
                      <a:endParaRPr lang="en-US" sz="12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2 240 398 667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96.7%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859927738"/>
                  </a:ext>
                </a:extLst>
              </a:tr>
              <a:tr h="2446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Eau et Electricité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#DIV/0!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843120230"/>
                  </a:ext>
                </a:extLst>
              </a:tr>
              <a:tr h="2446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Construction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1 300 000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20 402 296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-19 102 296</a:t>
                      </a:r>
                      <a:endParaRPr lang="en-US" sz="12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-93.6%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71301422"/>
                  </a:ext>
                </a:extLst>
              </a:tr>
              <a:tr h="2446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Commerce </a:t>
                      </a:r>
                      <a:r>
                        <a:rPr lang="en-US" sz="1200" b="1" u="none" strike="noStrike" dirty="0" err="1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Général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10 957 256 656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9 005 310 104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1 951 946 552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21.7%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724204357"/>
                  </a:ext>
                </a:extLst>
              </a:tr>
              <a:tr h="2446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Prestation de Service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1 477 528 528</a:t>
                      </a:r>
                      <a:endParaRPr lang="en-US" sz="12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1 892 810 351</a:t>
                      </a:r>
                      <a:endParaRPr lang="en-US" sz="12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-415 281 823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-21.9%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182952280"/>
                  </a:ext>
                </a:extLst>
              </a:tr>
              <a:tr h="2446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Vente de Boisson</a:t>
                      </a:r>
                      <a:endParaRPr lang="en-US" sz="12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863 378 464</a:t>
                      </a:r>
                      <a:endParaRPr lang="en-US" sz="12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881 758 713</a:t>
                      </a:r>
                      <a:endParaRPr lang="en-US" sz="12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-18 380 249</a:t>
                      </a:r>
                      <a:endParaRPr lang="en-US" sz="12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-2.1%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842279801"/>
                  </a:ext>
                </a:extLst>
              </a:tr>
              <a:tr h="2446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Restaurant et </a:t>
                      </a:r>
                      <a:r>
                        <a:rPr lang="en-US" sz="12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Hébergement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665 469 383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431 278 776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234 190 607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54.3%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760607989"/>
                  </a:ext>
                </a:extLst>
              </a:tr>
              <a:tr h="2446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Transport et communication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295 888 190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299 918 850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-4 030 660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-1.3%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940131132"/>
                  </a:ext>
                </a:extLst>
              </a:tr>
              <a:tr h="2446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Banques et Assurance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249 337 127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225 265 816</a:t>
                      </a:r>
                      <a:endParaRPr lang="en-US" sz="12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24 071 311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10.7%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349310744"/>
                  </a:ext>
                </a:extLst>
              </a:tr>
              <a:tr h="2446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Services </a:t>
                      </a:r>
                      <a:r>
                        <a:rPr lang="en-US" sz="1200" b="1" u="none" strike="noStrike" dirty="0" err="1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marchands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990 509 084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873 193 228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117 315 856</a:t>
                      </a:r>
                      <a:endParaRPr lang="en-US" sz="12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13.4%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455912287"/>
                  </a:ext>
                </a:extLst>
              </a:tr>
              <a:tr h="2446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Administration Publique</a:t>
                      </a:r>
                      <a:endParaRPr lang="en-US" sz="12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149 533 225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31 725 266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117 807 959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371.3%</a:t>
                      </a:r>
                      <a:endParaRPr lang="en-US" sz="12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715434720"/>
                  </a:ext>
                </a:extLst>
              </a:tr>
              <a:tr h="2446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8 294 807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18 270 103</a:t>
                      </a:r>
                      <a:endParaRPr lang="en-US" sz="12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-9 975 296</a:t>
                      </a:r>
                      <a:endParaRPr lang="en-US" sz="12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-54.6%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569386746"/>
                  </a:ext>
                </a:extLst>
              </a:tr>
              <a:tr h="2446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 non </a:t>
                      </a:r>
                      <a:r>
                        <a:rPr lang="en-US" sz="12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marchands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2 090 500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2 090 500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#DIV/0!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27400526"/>
                  </a:ext>
                </a:extLst>
              </a:tr>
              <a:tr h="2446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#N/A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678 066 175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26 000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678 040 175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2607846.8%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964739337"/>
                  </a:ext>
                </a:extLst>
              </a:tr>
              <a:tr h="2446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CIMEXT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23 482 739 656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17 682 601 868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5 800 137 788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32.8%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473698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9721846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DD0C5-E397-7B48-4F13-634E8E6FC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A019E171-AB3E-1A73-3321-0E1D68480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0616" y="6269900"/>
            <a:ext cx="407368" cy="365125"/>
          </a:xfrm>
          <a:solidFill>
            <a:schemeClr val="accent2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fld id="{B205AF0B-8912-4904-970B-A9F5335A4EA1}" type="slidenum">
              <a:rPr lang="fr-FR" sz="1600" b="1" smtClean="0">
                <a:solidFill>
                  <a:schemeClr val="bg1"/>
                </a:solidFill>
              </a:rPr>
              <a:pPr algn="ctr"/>
              <a:t>9</a:t>
            </a:fld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30" name="Chevron 9">
            <a:extLst>
              <a:ext uri="{FF2B5EF4-FFF2-40B4-BE49-F238E27FC236}">
                <a16:creationId xmlns:a16="http://schemas.microsoft.com/office/drawing/2014/main" id="{82E4330C-FED9-3147-68AC-CDB66087EA3D}"/>
              </a:ext>
            </a:extLst>
          </p:cNvPr>
          <p:cNvSpPr/>
          <p:nvPr/>
        </p:nvSpPr>
        <p:spPr>
          <a:xfrm>
            <a:off x="6874229" y="67329"/>
            <a:ext cx="2088232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7704" h="754664">
                <a:moveTo>
                  <a:pt x="0" y="0"/>
                </a:moveTo>
                <a:lnTo>
                  <a:pt x="2358972" y="0"/>
                </a:lnTo>
                <a:lnTo>
                  <a:pt x="2507704" y="363885"/>
                </a:lnTo>
                <a:lnTo>
                  <a:pt x="2358972" y="754664"/>
                </a:lnTo>
                <a:lnTo>
                  <a:pt x="0" y="754664"/>
                </a:lnTo>
                <a:lnTo>
                  <a:pt x="135285" y="3773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Objectifs</a:t>
            </a:r>
          </a:p>
        </p:txBody>
      </p:sp>
      <p:sp>
        <p:nvSpPr>
          <p:cNvPr id="31" name="Chevron 9">
            <a:extLst>
              <a:ext uri="{FF2B5EF4-FFF2-40B4-BE49-F238E27FC236}">
                <a16:creationId xmlns:a16="http://schemas.microsoft.com/office/drawing/2014/main" id="{056FF93C-2634-A718-3FB4-1498EEB90D9C}"/>
              </a:ext>
            </a:extLst>
          </p:cNvPr>
          <p:cNvSpPr/>
          <p:nvPr/>
        </p:nvSpPr>
        <p:spPr>
          <a:xfrm>
            <a:off x="9213793" y="44073"/>
            <a:ext cx="2261959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7704" h="754664">
                <a:moveTo>
                  <a:pt x="0" y="0"/>
                </a:moveTo>
                <a:lnTo>
                  <a:pt x="2358972" y="0"/>
                </a:lnTo>
                <a:lnTo>
                  <a:pt x="2507704" y="363885"/>
                </a:lnTo>
                <a:lnTo>
                  <a:pt x="2358972" y="754664"/>
                </a:lnTo>
                <a:lnTo>
                  <a:pt x="0" y="754664"/>
                </a:lnTo>
                <a:lnTo>
                  <a:pt x="135285" y="3773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Hypothèses</a:t>
            </a:r>
          </a:p>
        </p:txBody>
      </p:sp>
      <p:sp>
        <p:nvSpPr>
          <p:cNvPr id="32" name="Chevron 9">
            <a:extLst>
              <a:ext uri="{FF2B5EF4-FFF2-40B4-BE49-F238E27FC236}">
                <a16:creationId xmlns:a16="http://schemas.microsoft.com/office/drawing/2014/main" id="{48B79904-8CE1-C234-CB3A-01C28171AFE9}"/>
              </a:ext>
            </a:extLst>
          </p:cNvPr>
          <p:cNvSpPr/>
          <p:nvPr/>
        </p:nvSpPr>
        <p:spPr>
          <a:xfrm>
            <a:off x="1919537" y="54450"/>
            <a:ext cx="2274402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  <a:gd name="connsiteX0" fmla="*/ 13795 w 2521499"/>
              <a:gd name="connsiteY0" fmla="*/ 0 h 754664"/>
              <a:gd name="connsiteX1" fmla="*/ 2372767 w 2521499"/>
              <a:gd name="connsiteY1" fmla="*/ 0 h 754664"/>
              <a:gd name="connsiteX2" fmla="*/ 2521499 w 2521499"/>
              <a:gd name="connsiteY2" fmla="*/ 363885 h 754664"/>
              <a:gd name="connsiteX3" fmla="*/ 2372767 w 2521499"/>
              <a:gd name="connsiteY3" fmla="*/ 754664 h 754664"/>
              <a:gd name="connsiteX4" fmla="*/ 13795 w 2521499"/>
              <a:gd name="connsiteY4" fmla="*/ 754664 h 754664"/>
              <a:gd name="connsiteX5" fmla="*/ 0 w 2521499"/>
              <a:gd name="connsiteY5" fmla="*/ 377332 h 754664"/>
              <a:gd name="connsiteX6" fmla="*/ 13795 w 2521499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1499" h="754664">
                <a:moveTo>
                  <a:pt x="13795" y="0"/>
                </a:moveTo>
                <a:lnTo>
                  <a:pt x="2372767" y="0"/>
                </a:lnTo>
                <a:lnTo>
                  <a:pt x="2521499" y="363885"/>
                </a:lnTo>
                <a:lnTo>
                  <a:pt x="2372767" y="754664"/>
                </a:lnTo>
                <a:lnTo>
                  <a:pt x="13795" y="754664"/>
                </a:lnTo>
                <a:lnTo>
                  <a:pt x="0" y="377332"/>
                </a:lnTo>
                <a:lnTo>
                  <a:pt x="1379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Contexte </a:t>
            </a: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E7CEE301-9C9B-74D1-C24F-614BA09F4F7B}"/>
              </a:ext>
            </a:extLst>
          </p:cNvPr>
          <p:cNvCxnSpPr/>
          <p:nvPr/>
        </p:nvCxnSpPr>
        <p:spPr>
          <a:xfrm flipH="1">
            <a:off x="1919537" y="687985"/>
            <a:ext cx="10272463" cy="1"/>
          </a:xfrm>
          <a:prstGeom prst="line">
            <a:avLst/>
          </a:prstGeom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hevron 9">
            <a:extLst>
              <a:ext uri="{FF2B5EF4-FFF2-40B4-BE49-F238E27FC236}">
                <a16:creationId xmlns:a16="http://schemas.microsoft.com/office/drawing/2014/main" id="{883734A5-C289-A46B-8D2B-276C874BF5A1}"/>
              </a:ext>
            </a:extLst>
          </p:cNvPr>
          <p:cNvSpPr/>
          <p:nvPr/>
        </p:nvSpPr>
        <p:spPr>
          <a:xfrm>
            <a:off x="4476203" y="56008"/>
            <a:ext cx="2123853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7704" h="754664">
                <a:moveTo>
                  <a:pt x="0" y="0"/>
                </a:moveTo>
                <a:lnTo>
                  <a:pt x="2358972" y="0"/>
                </a:lnTo>
                <a:lnTo>
                  <a:pt x="2507704" y="363885"/>
                </a:lnTo>
                <a:lnTo>
                  <a:pt x="2358972" y="754664"/>
                </a:lnTo>
                <a:lnTo>
                  <a:pt x="0" y="754664"/>
                </a:lnTo>
                <a:lnTo>
                  <a:pt x="135285" y="3773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problématique</a:t>
            </a:r>
          </a:p>
        </p:txBody>
      </p:sp>
      <p:pic>
        <p:nvPicPr>
          <p:cNvPr id="11" name="Picture 2" descr="I:\dgi-banner-fr.jpg">
            <a:extLst>
              <a:ext uri="{FF2B5EF4-FFF2-40B4-BE49-F238E27FC236}">
                <a16:creationId xmlns:a16="http://schemas.microsoft.com/office/drawing/2014/main" id="{1BC1784D-A64B-398D-1C03-708BC8899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2296" y="8753"/>
            <a:ext cx="12204296" cy="685093"/>
          </a:xfrm>
          <a:prstGeom prst="rect">
            <a:avLst/>
          </a:prstGeom>
          <a:noFill/>
        </p:spPr>
      </p:pic>
      <p:sp>
        <p:nvSpPr>
          <p:cNvPr id="13" name="Chevron 9">
            <a:extLst>
              <a:ext uri="{FF2B5EF4-FFF2-40B4-BE49-F238E27FC236}">
                <a16:creationId xmlns:a16="http://schemas.microsoft.com/office/drawing/2014/main" id="{8CA7C3F5-841E-C47B-902F-E650051DC1C1}"/>
              </a:ext>
            </a:extLst>
          </p:cNvPr>
          <p:cNvSpPr/>
          <p:nvPr/>
        </p:nvSpPr>
        <p:spPr>
          <a:xfrm>
            <a:off x="2160151" y="-4126"/>
            <a:ext cx="10031849" cy="697972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  <a:gd name="connsiteX0" fmla="*/ 13795 w 2521499"/>
              <a:gd name="connsiteY0" fmla="*/ 0 h 754664"/>
              <a:gd name="connsiteX1" fmla="*/ 2372767 w 2521499"/>
              <a:gd name="connsiteY1" fmla="*/ 0 h 754664"/>
              <a:gd name="connsiteX2" fmla="*/ 2521499 w 2521499"/>
              <a:gd name="connsiteY2" fmla="*/ 363885 h 754664"/>
              <a:gd name="connsiteX3" fmla="*/ 2372767 w 2521499"/>
              <a:gd name="connsiteY3" fmla="*/ 754664 h 754664"/>
              <a:gd name="connsiteX4" fmla="*/ 13795 w 2521499"/>
              <a:gd name="connsiteY4" fmla="*/ 754664 h 754664"/>
              <a:gd name="connsiteX5" fmla="*/ 0 w 2521499"/>
              <a:gd name="connsiteY5" fmla="*/ 377332 h 754664"/>
              <a:gd name="connsiteX6" fmla="*/ 13795 w 2521499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1499" h="754664">
                <a:moveTo>
                  <a:pt x="13795" y="0"/>
                </a:moveTo>
                <a:lnTo>
                  <a:pt x="2372767" y="0"/>
                </a:lnTo>
                <a:lnTo>
                  <a:pt x="2521499" y="363885"/>
                </a:lnTo>
                <a:lnTo>
                  <a:pt x="2372767" y="754664"/>
                </a:lnTo>
                <a:lnTo>
                  <a:pt x="13795" y="754664"/>
                </a:lnTo>
                <a:lnTo>
                  <a:pt x="0" y="377332"/>
                </a:lnTo>
                <a:lnTo>
                  <a:pt x="1379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M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DES EMISSIONS DE JANV A MAI</a:t>
            </a:r>
            <a:endParaRPr lang="fr-FR" sz="28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D5930E9D-9C6A-2BC9-E4D6-C68C7E5830A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" y="8753"/>
            <a:ext cx="1343472" cy="70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3809BE8-40E5-5F3D-BBD9-C69347ED0F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21720"/>
            <a:ext cx="12191996" cy="2362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9C2ABB-B5C4-87E1-01FD-876CBEAF66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157510"/>
              </p:ext>
            </p:extLst>
          </p:nvPr>
        </p:nvGraphicFramePr>
        <p:xfrm>
          <a:off x="1487488" y="961917"/>
          <a:ext cx="9649071" cy="457582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717751">
                  <a:extLst>
                    <a:ext uri="{9D8B030D-6E8A-4147-A177-3AD203B41FA5}">
                      <a16:colId xmlns:a16="http://schemas.microsoft.com/office/drawing/2014/main" val="547071495"/>
                    </a:ext>
                  </a:extLst>
                </a:gridCol>
                <a:gridCol w="1890761">
                  <a:extLst>
                    <a:ext uri="{9D8B030D-6E8A-4147-A177-3AD203B41FA5}">
                      <a16:colId xmlns:a16="http://schemas.microsoft.com/office/drawing/2014/main" val="1317388838"/>
                    </a:ext>
                  </a:extLst>
                </a:gridCol>
                <a:gridCol w="1711839">
                  <a:extLst>
                    <a:ext uri="{9D8B030D-6E8A-4147-A177-3AD203B41FA5}">
                      <a16:colId xmlns:a16="http://schemas.microsoft.com/office/drawing/2014/main" val="1169864799"/>
                    </a:ext>
                  </a:extLst>
                </a:gridCol>
                <a:gridCol w="2064649">
                  <a:extLst>
                    <a:ext uri="{9D8B030D-6E8A-4147-A177-3AD203B41FA5}">
                      <a16:colId xmlns:a16="http://schemas.microsoft.com/office/drawing/2014/main" val="1440111703"/>
                    </a:ext>
                  </a:extLst>
                </a:gridCol>
                <a:gridCol w="1264071">
                  <a:extLst>
                    <a:ext uri="{9D8B030D-6E8A-4147-A177-3AD203B41FA5}">
                      <a16:colId xmlns:a16="http://schemas.microsoft.com/office/drawing/2014/main" val="926687066"/>
                    </a:ext>
                  </a:extLst>
                </a:gridCol>
              </a:tblGrid>
              <a:tr h="4097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SOUS SECTEUR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Emissions </a:t>
                      </a:r>
                      <a:r>
                        <a:rPr lang="en-US" sz="14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Semestre</a:t>
                      </a: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1 2026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Emissions </a:t>
                      </a:r>
                      <a:r>
                        <a:rPr lang="en-US" sz="14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Semestre</a:t>
                      </a: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1 2025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Ecart absolu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Evolution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955181889"/>
                  </a:ext>
                </a:extLst>
              </a:tr>
              <a:tr h="218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Agriculture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54 759 729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18 978 557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35 781 172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188.5%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980816878"/>
                  </a:ext>
                </a:extLst>
              </a:tr>
              <a:tr h="218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Sylviculture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85 451 315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11 849 770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73 601 545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621.1%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102722010"/>
                  </a:ext>
                </a:extLst>
              </a:tr>
              <a:tr h="218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Industrie Extractive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84 133 792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90 322 744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-6 188 952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-6.9%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301806878"/>
                  </a:ext>
                </a:extLst>
              </a:tr>
              <a:tr h="218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Industries </a:t>
                      </a:r>
                      <a:r>
                        <a:rPr lang="en-US" sz="1400" b="1" u="none" strike="no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Agroalimentaires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61 752 570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63 897 490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-2 144 920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-3.4%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588524180"/>
                  </a:ext>
                </a:extLst>
              </a:tr>
              <a:tr h="218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Industries </a:t>
                      </a:r>
                      <a:r>
                        <a:rPr lang="en-US" sz="1400" b="1" u="none" strike="noStrike" dirty="0" err="1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Manufasturières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136 368 400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96 333 424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40 034 976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41.6%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895308688"/>
                  </a:ext>
                </a:extLst>
              </a:tr>
              <a:tr h="218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Eau et Electricité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11 981 388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9 712 143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2 269 245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23.4%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926919064"/>
                  </a:ext>
                </a:extLst>
              </a:tr>
              <a:tr h="218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Construction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4 002 504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5 743 072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-1 740 568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-30.3%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721604056"/>
                  </a:ext>
                </a:extLst>
              </a:tr>
              <a:tr h="218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Commerce </a:t>
                      </a:r>
                      <a:r>
                        <a:rPr lang="en-US" sz="1400" b="1" u="none" strike="noStrike" dirty="0" err="1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Général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637 109 971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333 341 410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303 768 561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91.1%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198925766"/>
                  </a:ext>
                </a:extLst>
              </a:tr>
              <a:tr h="218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Prestation de Service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159 258 479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103 145 188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56 113 291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54.4%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080367155"/>
                  </a:ext>
                </a:extLst>
              </a:tr>
              <a:tr h="218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Vente de Boisson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45 623 921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34 853 456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10 770 465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30.9%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185977065"/>
                  </a:ext>
                </a:extLst>
              </a:tr>
              <a:tr h="218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Restaurant et </a:t>
                      </a:r>
                      <a:r>
                        <a:rPr lang="en-US" sz="1400" b="1" u="none" strike="noStrike" dirty="0" err="1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Hébergement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48 447 701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35 461 582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12 986 119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36.6%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081390483"/>
                  </a:ext>
                </a:extLst>
              </a:tr>
              <a:tr h="218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Transport et communication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35 953 435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14 343 681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21 609 754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150.7%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667846777"/>
                  </a:ext>
                </a:extLst>
              </a:tr>
              <a:tr h="218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Banques et Assurance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62 702 545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46 900 987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15 801 558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33.7%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602227092"/>
                  </a:ext>
                </a:extLst>
              </a:tr>
              <a:tr h="218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Services </a:t>
                      </a:r>
                      <a:r>
                        <a:rPr lang="en-US" sz="1400" b="1" u="none" strike="no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marchands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86 319 292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89 390 141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-3 070 849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-3.4%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120018538"/>
                  </a:ext>
                </a:extLst>
              </a:tr>
              <a:tr h="218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Administration Publique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231 040 459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75 668 947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155 371 512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205.3%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623395872"/>
                  </a:ext>
                </a:extLst>
              </a:tr>
              <a:tr h="218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301 868 351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134 596 622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167 271 729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124.3%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275227730"/>
                  </a:ext>
                </a:extLst>
              </a:tr>
              <a:tr h="218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 non </a:t>
                      </a:r>
                      <a:r>
                        <a:rPr lang="en-US" sz="1400" b="1" u="none" strike="noStrike" dirty="0" err="1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marchands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118 194 113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73 674 243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44 519 870</a:t>
                      </a:r>
                      <a:endParaRPr lang="en-US" sz="14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60.4%</a:t>
                      </a:r>
                      <a:endParaRPr lang="en-US" sz="14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145439132"/>
                  </a:ext>
                </a:extLst>
              </a:tr>
              <a:tr h="218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#N/A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46 141 118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2 204 661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43 936 457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1992.9%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734962232"/>
                  </a:ext>
                </a:extLst>
              </a:tr>
              <a:tr h="2180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CIMEXT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2 211 262 583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1 240 568 618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970 693 965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78.2%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530899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6479813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A1D5-B2AB-18C4-32CB-2CA57235D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24F6A6E0-31BA-63CA-89F9-04C9AE0C0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0616" y="6269900"/>
            <a:ext cx="407368" cy="365125"/>
          </a:xfrm>
          <a:solidFill>
            <a:schemeClr val="accent2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fld id="{B205AF0B-8912-4904-970B-A9F5335A4EA1}" type="slidenum">
              <a:rPr lang="fr-FR" sz="1600" b="1" smtClean="0">
                <a:solidFill>
                  <a:schemeClr val="bg1"/>
                </a:solidFill>
              </a:rPr>
              <a:pPr algn="ctr"/>
              <a:t>11</a:t>
            </a:fld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30" name="Chevron 9">
            <a:extLst>
              <a:ext uri="{FF2B5EF4-FFF2-40B4-BE49-F238E27FC236}">
                <a16:creationId xmlns:a16="http://schemas.microsoft.com/office/drawing/2014/main" id="{54D5F56D-9061-4A35-3E12-F897D5A60D06}"/>
              </a:ext>
            </a:extLst>
          </p:cNvPr>
          <p:cNvSpPr/>
          <p:nvPr/>
        </p:nvSpPr>
        <p:spPr>
          <a:xfrm>
            <a:off x="6874229" y="67329"/>
            <a:ext cx="2088232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7704" h="754664">
                <a:moveTo>
                  <a:pt x="0" y="0"/>
                </a:moveTo>
                <a:lnTo>
                  <a:pt x="2358972" y="0"/>
                </a:lnTo>
                <a:lnTo>
                  <a:pt x="2507704" y="363885"/>
                </a:lnTo>
                <a:lnTo>
                  <a:pt x="2358972" y="754664"/>
                </a:lnTo>
                <a:lnTo>
                  <a:pt x="0" y="754664"/>
                </a:lnTo>
                <a:lnTo>
                  <a:pt x="135285" y="3773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Objectifs</a:t>
            </a:r>
          </a:p>
        </p:txBody>
      </p:sp>
      <p:sp>
        <p:nvSpPr>
          <p:cNvPr id="31" name="Chevron 9">
            <a:extLst>
              <a:ext uri="{FF2B5EF4-FFF2-40B4-BE49-F238E27FC236}">
                <a16:creationId xmlns:a16="http://schemas.microsoft.com/office/drawing/2014/main" id="{FF9E2472-C604-F9BA-D4AF-B1D30E9DF13A}"/>
              </a:ext>
            </a:extLst>
          </p:cNvPr>
          <p:cNvSpPr/>
          <p:nvPr/>
        </p:nvSpPr>
        <p:spPr>
          <a:xfrm>
            <a:off x="9213793" y="44073"/>
            <a:ext cx="2261959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7704" h="754664">
                <a:moveTo>
                  <a:pt x="0" y="0"/>
                </a:moveTo>
                <a:lnTo>
                  <a:pt x="2358972" y="0"/>
                </a:lnTo>
                <a:lnTo>
                  <a:pt x="2507704" y="363885"/>
                </a:lnTo>
                <a:lnTo>
                  <a:pt x="2358972" y="754664"/>
                </a:lnTo>
                <a:lnTo>
                  <a:pt x="0" y="754664"/>
                </a:lnTo>
                <a:lnTo>
                  <a:pt x="135285" y="3773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Hypothèses</a:t>
            </a:r>
          </a:p>
        </p:txBody>
      </p:sp>
      <p:sp>
        <p:nvSpPr>
          <p:cNvPr id="32" name="Chevron 9">
            <a:extLst>
              <a:ext uri="{FF2B5EF4-FFF2-40B4-BE49-F238E27FC236}">
                <a16:creationId xmlns:a16="http://schemas.microsoft.com/office/drawing/2014/main" id="{70141FCA-839E-48E0-CA36-B27AF27D8C85}"/>
              </a:ext>
            </a:extLst>
          </p:cNvPr>
          <p:cNvSpPr/>
          <p:nvPr/>
        </p:nvSpPr>
        <p:spPr>
          <a:xfrm>
            <a:off x="1919537" y="54450"/>
            <a:ext cx="2274402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  <a:gd name="connsiteX0" fmla="*/ 13795 w 2521499"/>
              <a:gd name="connsiteY0" fmla="*/ 0 h 754664"/>
              <a:gd name="connsiteX1" fmla="*/ 2372767 w 2521499"/>
              <a:gd name="connsiteY1" fmla="*/ 0 h 754664"/>
              <a:gd name="connsiteX2" fmla="*/ 2521499 w 2521499"/>
              <a:gd name="connsiteY2" fmla="*/ 363885 h 754664"/>
              <a:gd name="connsiteX3" fmla="*/ 2372767 w 2521499"/>
              <a:gd name="connsiteY3" fmla="*/ 754664 h 754664"/>
              <a:gd name="connsiteX4" fmla="*/ 13795 w 2521499"/>
              <a:gd name="connsiteY4" fmla="*/ 754664 h 754664"/>
              <a:gd name="connsiteX5" fmla="*/ 0 w 2521499"/>
              <a:gd name="connsiteY5" fmla="*/ 377332 h 754664"/>
              <a:gd name="connsiteX6" fmla="*/ 13795 w 2521499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1499" h="754664">
                <a:moveTo>
                  <a:pt x="13795" y="0"/>
                </a:moveTo>
                <a:lnTo>
                  <a:pt x="2372767" y="0"/>
                </a:lnTo>
                <a:lnTo>
                  <a:pt x="2521499" y="363885"/>
                </a:lnTo>
                <a:lnTo>
                  <a:pt x="2372767" y="754664"/>
                </a:lnTo>
                <a:lnTo>
                  <a:pt x="13795" y="754664"/>
                </a:lnTo>
                <a:lnTo>
                  <a:pt x="0" y="377332"/>
                </a:lnTo>
                <a:lnTo>
                  <a:pt x="1379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Contexte </a:t>
            </a: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392C2657-DF9F-DFBF-37E1-486BC7162E0F}"/>
              </a:ext>
            </a:extLst>
          </p:cNvPr>
          <p:cNvCxnSpPr/>
          <p:nvPr/>
        </p:nvCxnSpPr>
        <p:spPr>
          <a:xfrm flipH="1">
            <a:off x="1919537" y="687985"/>
            <a:ext cx="10272463" cy="1"/>
          </a:xfrm>
          <a:prstGeom prst="line">
            <a:avLst/>
          </a:prstGeom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hevron 9">
            <a:extLst>
              <a:ext uri="{FF2B5EF4-FFF2-40B4-BE49-F238E27FC236}">
                <a16:creationId xmlns:a16="http://schemas.microsoft.com/office/drawing/2014/main" id="{BE96C38D-AABF-42BD-D2B7-AC6E32F49B3B}"/>
              </a:ext>
            </a:extLst>
          </p:cNvPr>
          <p:cNvSpPr/>
          <p:nvPr/>
        </p:nvSpPr>
        <p:spPr>
          <a:xfrm>
            <a:off x="4476203" y="56008"/>
            <a:ext cx="2123853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7704" h="754664">
                <a:moveTo>
                  <a:pt x="0" y="0"/>
                </a:moveTo>
                <a:lnTo>
                  <a:pt x="2358972" y="0"/>
                </a:lnTo>
                <a:lnTo>
                  <a:pt x="2507704" y="363885"/>
                </a:lnTo>
                <a:lnTo>
                  <a:pt x="2358972" y="754664"/>
                </a:lnTo>
                <a:lnTo>
                  <a:pt x="0" y="754664"/>
                </a:lnTo>
                <a:lnTo>
                  <a:pt x="135285" y="3773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problématique</a:t>
            </a:r>
          </a:p>
        </p:txBody>
      </p:sp>
      <p:pic>
        <p:nvPicPr>
          <p:cNvPr id="11" name="Picture 2" descr="I:\dgi-banner-fr.jpg">
            <a:extLst>
              <a:ext uri="{FF2B5EF4-FFF2-40B4-BE49-F238E27FC236}">
                <a16:creationId xmlns:a16="http://schemas.microsoft.com/office/drawing/2014/main" id="{191F27CF-1611-4BCB-CFA3-9EB7A34C4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2296" y="8753"/>
            <a:ext cx="12204296" cy="685093"/>
          </a:xfrm>
          <a:prstGeom prst="rect">
            <a:avLst/>
          </a:prstGeom>
          <a:noFill/>
        </p:spPr>
      </p:pic>
      <p:sp>
        <p:nvSpPr>
          <p:cNvPr id="13" name="Chevron 9">
            <a:extLst>
              <a:ext uri="{FF2B5EF4-FFF2-40B4-BE49-F238E27FC236}">
                <a16:creationId xmlns:a16="http://schemas.microsoft.com/office/drawing/2014/main" id="{FA003C79-E8E2-7F2E-972C-21BD3A3D956A}"/>
              </a:ext>
            </a:extLst>
          </p:cNvPr>
          <p:cNvSpPr/>
          <p:nvPr/>
        </p:nvSpPr>
        <p:spPr>
          <a:xfrm>
            <a:off x="2160151" y="-4126"/>
            <a:ext cx="10031849" cy="697972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  <a:gd name="connsiteX0" fmla="*/ 13795 w 2521499"/>
              <a:gd name="connsiteY0" fmla="*/ 0 h 754664"/>
              <a:gd name="connsiteX1" fmla="*/ 2372767 w 2521499"/>
              <a:gd name="connsiteY1" fmla="*/ 0 h 754664"/>
              <a:gd name="connsiteX2" fmla="*/ 2521499 w 2521499"/>
              <a:gd name="connsiteY2" fmla="*/ 363885 h 754664"/>
              <a:gd name="connsiteX3" fmla="*/ 2372767 w 2521499"/>
              <a:gd name="connsiteY3" fmla="*/ 754664 h 754664"/>
              <a:gd name="connsiteX4" fmla="*/ 13795 w 2521499"/>
              <a:gd name="connsiteY4" fmla="*/ 754664 h 754664"/>
              <a:gd name="connsiteX5" fmla="*/ 0 w 2521499"/>
              <a:gd name="connsiteY5" fmla="*/ 377332 h 754664"/>
              <a:gd name="connsiteX6" fmla="*/ 13795 w 2521499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1499" h="754664">
                <a:moveTo>
                  <a:pt x="13795" y="0"/>
                </a:moveTo>
                <a:lnTo>
                  <a:pt x="2372767" y="0"/>
                </a:lnTo>
                <a:lnTo>
                  <a:pt x="2521499" y="363885"/>
                </a:lnTo>
                <a:lnTo>
                  <a:pt x="2372767" y="754664"/>
                </a:lnTo>
                <a:lnTo>
                  <a:pt x="13795" y="754664"/>
                </a:lnTo>
                <a:lnTo>
                  <a:pt x="0" y="377332"/>
                </a:lnTo>
                <a:lnTo>
                  <a:pt x="1379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M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COMPARAISON DES RECETTES JANV - AVRIL</a:t>
            </a:r>
            <a:endParaRPr lang="fr-FR" sz="28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CBC8D1F-4C0B-E0F5-1C5D-CA1A6B1C9A6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" y="8753"/>
            <a:ext cx="1343472" cy="70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9E87483B-5652-C6F4-869B-FAE8E68DFC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21720"/>
            <a:ext cx="12191996" cy="2362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E2FC4E4-1D5F-7376-C10B-BF3AC8ADBC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3871748"/>
              </p:ext>
            </p:extLst>
          </p:nvPr>
        </p:nvGraphicFramePr>
        <p:xfrm>
          <a:off x="911424" y="908720"/>
          <a:ext cx="9865096" cy="4896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732685869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F8820-98B0-F0FF-CA84-4F5C1C86A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5C79DBA0-D690-C96C-4796-E72570682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0616" y="6269900"/>
            <a:ext cx="407368" cy="365125"/>
          </a:xfrm>
          <a:solidFill>
            <a:schemeClr val="accent2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fld id="{B205AF0B-8912-4904-970B-A9F5335A4EA1}" type="slidenum">
              <a:rPr lang="fr-FR" sz="1600" b="1" smtClean="0">
                <a:solidFill>
                  <a:schemeClr val="bg1"/>
                </a:solidFill>
              </a:rPr>
              <a:pPr algn="ctr"/>
              <a:t>12</a:t>
            </a:fld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30" name="Chevron 9">
            <a:extLst>
              <a:ext uri="{FF2B5EF4-FFF2-40B4-BE49-F238E27FC236}">
                <a16:creationId xmlns:a16="http://schemas.microsoft.com/office/drawing/2014/main" id="{38908CF0-117C-62D2-0256-43175CB7D912}"/>
              </a:ext>
            </a:extLst>
          </p:cNvPr>
          <p:cNvSpPr/>
          <p:nvPr/>
        </p:nvSpPr>
        <p:spPr>
          <a:xfrm>
            <a:off x="6874229" y="67329"/>
            <a:ext cx="2088232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7704" h="754664">
                <a:moveTo>
                  <a:pt x="0" y="0"/>
                </a:moveTo>
                <a:lnTo>
                  <a:pt x="2358972" y="0"/>
                </a:lnTo>
                <a:lnTo>
                  <a:pt x="2507704" y="363885"/>
                </a:lnTo>
                <a:lnTo>
                  <a:pt x="2358972" y="754664"/>
                </a:lnTo>
                <a:lnTo>
                  <a:pt x="0" y="754664"/>
                </a:lnTo>
                <a:lnTo>
                  <a:pt x="135285" y="3773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Objectifs</a:t>
            </a:r>
          </a:p>
        </p:txBody>
      </p:sp>
      <p:sp>
        <p:nvSpPr>
          <p:cNvPr id="31" name="Chevron 9">
            <a:extLst>
              <a:ext uri="{FF2B5EF4-FFF2-40B4-BE49-F238E27FC236}">
                <a16:creationId xmlns:a16="http://schemas.microsoft.com/office/drawing/2014/main" id="{2CC0983C-CC34-F2E7-B93D-FDFA1BB0E5C6}"/>
              </a:ext>
            </a:extLst>
          </p:cNvPr>
          <p:cNvSpPr/>
          <p:nvPr/>
        </p:nvSpPr>
        <p:spPr>
          <a:xfrm>
            <a:off x="9213793" y="44073"/>
            <a:ext cx="2261959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7704" h="754664">
                <a:moveTo>
                  <a:pt x="0" y="0"/>
                </a:moveTo>
                <a:lnTo>
                  <a:pt x="2358972" y="0"/>
                </a:lnTo>
                <a:lnTo>
                  <a:pt x="2507704" y="363885"/>
                </a:lnTo>
                <a:lnTo>
                  <a:pt x="2358972" y="754664"/>
                </a:lnTo>
                <a:lnTo>
                  <a:pt x="0" y="754664"/>
                </a:lnTo>
                <a:lnTo>
                  <a:pt x="135285" y="3773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Hypothèses</a:t>
            </a:r>
          </a:p>
        </p:txBody>
      </p:sp>
      <p:sp>
        <p:nvSpPr>
          <p:cNvPr id="32" name="Chevron 9">
            <a:extLst>
              <a:ext uri="{FF2B5EF4-FFF2-40B4-BE49-F238E27FC236}">
                <a16:creationId xmlns:a16="http://schemas.microsoft.com/office/drawing/2014/main" id="{8404BE26-2024-10BD-1B63-B07D42BFD88A}"/>
              </a:ext>
            </a:extLst>
          </p:cNvPr>
          <p:cNvSpPr/>
          <p:nvPr/>
        </p:nvSpPr>
        <p:spPr>
          <a:xfrm>
            <a:off x="1919537" y="54450"/>
            <a:ext cx="2274402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  <a:gd name="connsiteX0" fmla="*/ 13795 w 2521499"/>
              <a:gd name="connsiteY0" fmla="*/ 0 h 754664"/>
              <a:gd name="connsiteX1" fmla="*/ 2372767 w 2521499"/>
              <a:gd name="connsiteY1" fmla="*/ 0 h 754664"/>
              <a:gd name="connsiteX2" fmla="*/ 2521499 w 2521499"/>
              <a:gd name="connsiteY2" fmla="*/ 363885 h 754664"/>
              <a:gd name="connsiteX3" fmla="*/ 2372767 w 2521499"/>
              <a:gd name="connsiteY3" fmla="*/ 754664 h 754664"/>
              <a:gd name="connsiteX4" fmla="*/ 13795 w 2521499"/>
              <a:gd name="connsiteY4" fmla="*/ 754664 h 754664"/>
              <a:gd name="connsiteX5" fmla="*/ 0 w 2521499"/>
              <a:gd name="connsiteY5" fmla="*/ 377332 h 754664"/>
              <a:gd name="connsiteX6" fmla="*/ 13795 w 2521499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1499" h="754664">
                <a:moveTo>
                  <a:pt x="13795" y="0"/>
                </a:moveTo>
                <a:lnTo>
                  <a:pt x="2372767" y="0"/>
                </a:lnTo>
                <a:lnTo>
                  <a:pt x="2521499" y="363885"/>
                </a:lnTo>
                <a:lnTo>
                  <a:pt x="2372767" y="754664"/>
                </a:lnTo>
                <a:lnTo>
                  <a:pt x="13795" y="754664"/>
                </a:lnTo>
                <a:lnTo>
                  <a:pt x="0" y="377332"/>
                </a:lnTo>
                <a:lnTo>
                  <a:pt x="1379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Contexte </a:t>
            </a: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188DA586-9550-3BDC-02F9-BCB33E4D879A}"/>
              </a:ext>
            </a:extLst>
          </p:cNvPr>
          <p:cNvCxnSpPr/>
          <p:nvPr/>
        </p:nvCxnSpPr>
        <p:spPr>
          <a:xfrm flipH="1">
            <a:off x="1919537" y="687985"/>
            <a:ext cx="10272463" cy="1"/>
          </a:xfrm>
          <a:prstGeom prst="line">
            <a:avLst/>
          </a:prstGeom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hevron 9">
            <a:extLst>
              <a:ext uri="{FF2B5EF4-FFF2-40B4-BE49-F238E27FC236}">
                <a16:creationId xmlns:a16="http://schemas.microsoft.com/office/drawing/2014/main" id="{95EB3A8E-84D5-848A-10D4-4CEDCC1C2793}"/>
              </a:ext>
            </a:extLst>
          </p:cNvPr>
          <p:cNvSpPr/>
          <p:nvPr/>
        </p:nvSpPr>
        <p:spPr>
          <a:xfrm>
            <a:off x="4476203" y="56008"/>
            <a:ext cx="2123853" cy="566024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7704" h="754664">
                <a:moveTo>
                  <a:pt x="0" y="0"/>
                </a:moveTo>
                <a:lnTo>
                  <a:pt x="2358972" y="0"/>
                </a:lnTo>
                <a:lnTo>
                  <a:pt x="2507704" y="363885"/>
                </a:lnTo>
                <a:lnTo>
                  <a:pt x="2358972" y="754664"/>
                </a:lnTo>
                <a:lnTo>
                  <a:pt x="0" y="754664"/>
                </a:lnTo>
                <a:lnTo>
                  <a:pt x="135285" y="3773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problématique</a:t>
            </a:r>
          </a:p>
        </p:txBody>
      </p:sp>
      <p:pic>
        <p:nvPicPr>
          <p:cNvPr id="11" name="Picture 2" descr="I:\dgi-banner-fr.jpg">
            <a:extLst>
              <a:ext uri="{FF2B5EF4-FFF2-40B4-BE49-F238E27FC236}">
                <a16:creationId xmlns:a16="http://schemas.microsoft.com/office/drawing/2014/main" id="{23642AF4-F83E-619A-DFDD-7335EB76D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2296" y="8753"/>
            <a:ext cx="12204296" cy="685093"/>
          </a:xfrm>
          <a:prstGeom prst="rect">
            <a:avLst/>
          </a:prstGeom>
          <a:noFill/>
        </p:spPr>
      </p:pic>
      <p:sp>
        <p:nvSpPr>
          <p:cNvPr id="13" name="Chevron 9">
            <a:extLst>
              <a:ext uri="{FF2B5EF4-FFF2-40B4-BE49-F238E27FC236}">
                <a16:creationId xmlns:a16="http://schemas.microsoft.com/office/drawing/2014/main" id="{C7825566-5D22-E0FF-F7E0-EF47CD5DDBCE}"/>
              </a:ext>
            </a:extLst>
          </p:cNvPr>
          <p:cNvSpPr/>
          <p:nvPr/>
        </p:nvSpPr>
        <p:spPr>
          <a:xfrm>
            <a:off x="2160151" y="-4126"/>
            <a:ext cx="10031849" cy="697972"/>
          </a:xfrm>
          <a:custGeom>
            <a:avLst/>
            <a:gdLst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377332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269755 w 2736304"/>
              <a:gd name="connsiteY5" fmla="*/ 377332 h 754664"/>
              <a:gd name="connsiteX6" fmla="*/ 0 w 2736304"/>
              <a:gd name="connsiteY6" fmla="*/ 0 h 754664"/>
              <a:gd name="connsiteX0" fmla="*/ 0 w 2736304"/>
              <a:gd name="connsiteY0" fmla="*/ 0 h 754664"/>
              <a:gd name="connsiteX1" fmla="*/ 2358972 w 2736304"/>
              <a:gd name="connsiteY1" fmla="*/ 0 h 754664"/>
              <a:gd name="connsiteX2" fmla="*/ 2736304 w 2736304"/>
              <a:gd name="connsiteY2" fmla="*/ 377332 h 754664"/>
              <a:gd name="connsiteX3" fmla="*/ 2358972 w 2736304"/>
              <a:gd name="connsiteY3" fmla="*/ 754664 h 754664"/>
              <a:gd name="connsiteX4" fmla="*/ 0 w 2736304"/>
              <a:gd name="connsiteY4" fmla="*/ 754664 h 754664"/>
              <a:gd name="connsiteX5" fmla="*/ 135285 w 2736304"/>
              <a:gd name="connsiteY5" fmla="*/ 377332 h 754664"/>
              <a:gd name="connsiteX6" fmla="*/ 0 w 2736304"/>
              <a:gd name="connsiteY6" fmla="*/ 0 h 754664"/>
              <a:gd name="connsiteX0" fmla="*/ 0 w 2507704"/>
              <a:gd name="connsiteY0" fmla="*/ 0 h 754664"/>
              <a:gd name="connsiteX1" fmla="*/ 2358972 w 2507704"/>
              <a:gd name="connsiteY1" fmla="*/ 0 h 754664"/>
              <a:gd name="connsiteX2" fmla="*/ 2507704 w 2507704"/>
              <a:gd name="connsiteY2" fmla="*/ 363885 h 754664"/>
              <a:gd name="connsiteX3" fmla="*/ 2358972 w 2507704"/>
              <a:gd name="connsiteY3" fmla="*/ 754664 h 754664"/>
              <a:gd name="connsiteX4" fmla="*/ 0 w 2507704"/>
              <a:gd name="connsiteY4" fmla="*/ 754664 h 754664"/>
              <a:gd name="connsiteX5" fmla="*/ 135285 w 2507704"/>
              <a:gd name="connsiteY5" fmla="*/ 377332 h 754664"/>
              <a:gd name="connsiteX6" fmla="*/ 0 w 2507704"/>
              <a:gd name="connsiteY6" fmla="*/ 0 h 754664"/>
              <a:gd name="connsiteX0" fmla="*/ 13795 w 2521499"/>
              <a:gd name="connsiteY0" fmla="*/ 0 h 754664"/>
              <a:gd name="connsiteX1" fmla="*/ 2372767 w 2521499"/>
              <a:gd name="connsiteY1" fmla="*/ 0 h 754664"/>
              <a:gd name="connsiteX2" fmla="*/ 2521499 w 2521499"/>
              <a:gd name="connsiteY2" fmla="*/ 363885 h 754664"/>
              <a:gd name="connsiteX3" fmla="*/ 2372767 w 2521499"/>
              <a:gd name="connsiteY3" fmla="*/ 754664 h 754664"/>
              <a:gd name="connsiteX4" fmla="*/ 13795 w 2521499"/>
              <a:gd name="connsiteY4" fmla="*/ 754664 h 754664"/>
              <a:gd name="connsiteX5" fmla="*/ 0 w 2521499"/>
              <a:gd name="connsiteY5" fmla="*/ 377332 h 754664"/>
              <a:gd name="connsiteX6" fmla="*/ 13795 w 2521499"/>
              <a:gd name="connsiteY6" fmla="*/ 0 h 75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1499" h="754664">
                <a:moveTo>
                  <a:pt x="13795" y="0"/>
                </a:moveTo>
                <a:lnTo>
                  <a:pt x="2372767" y="0"/>
                </a:lnTo>
                <a:lnTo>
                  <a:pt x="2521499" y="363885"/>
                </a:lnTo>
                <a:lnTo>
                  <a:pt x="2372767" y="754664"/>
                </a:lnTo>
                <a:lnTo>
                  <a:pt x="13795" y="754664"/>
                </a:lnTo>
                <a:lnTo>
                  <a:pt x="0" y="377332"/>
                </a:lnTo>
                <a:lnTo>
                  <a:pt x="1379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M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COMPARAISON DES RECETTES JANV - MAI</a:t>
            </a:r>
            <a:endParaRPr lang="fr-FR" sz="28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66EA1EE6-0B53-6290-1C8B-709B8C3319A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" y="8753"/>
            <a:ext cx="1343472" cy="70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91A5FA28-D8D1-8AD0-E4F0-84BAF39CCF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21720"/>
            <a:ext cx="12191996" cy="2362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D96CBC-586F-0D2D-1F7B-2ECD336AB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508088"/>
              </p:ext>
            </p:extLst>
          </p:nvPr>
        </p:nvGraphicFramePr>
        <p:xfrm>
          <a:off x="1415480" y="908721"/>
          <a:ext cx="10060272" cy="49720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452318">
                  <a:extLst>
                    <a:ext uri="{9D8B030D-6E8A-4147-A177-3AD203B41FA5}">
                      <a16:colId xmlns:a16="http://schemas.microsoft.com/office/drawing/2014/main" val="4244600120"/>
                    </a:ext>
                  </a:extLst>
                </a:gridCol>
                <a:gridCol w="1968901">
                  <a:extLst>
                    <a:ext uri="{9D8B030D-6E8A-4147-A177-3AD203B41FA5}">
                      <a16:colId xmlns:a16="http://schemas.microsoft.com/office/drawing/2014/main" val="1842488487"/>
                    </a:ext>
                  </a:extLst>
                </a:gridCol>
                <a:gridCol w="1968901">
                  <a:extLst>
                    <a:ext uri="{9D8B030D-6E8A-4147-A177-3AD203B41FA5}">
                      <a16:colId xmlns:a16="http://schemas.microsoft.com/office/drawing/2014/main" val="2154481632"/>
                    </a:ext>
                  </a:extLst>
                </a:gridCol>
                <a:gridCol w="1294619">
                  <a:extLst>
                    <a:ext uri="{9D8B030D-6E8A-4147-A177-3AD203B41FA5}">
                      <a16:colId xmlns:a16="http://schemas.microsoft.com/office/drawing/2014/main" val="4030812820"/>
                    </a:ext>
                  </a:extLst>
                </a:gridCol>
                <a:gridCol w="1375533">
                  <a:extLst>
                    <a:ext uri="{9D8B030D-6E8A-4147-A177-3AD203B41FA5}">
                      <a16:colId xmlns:a16="http://schemas.microsoft.com/office/drawing/2014/main" val="3360258190"/>
                    </a:ext>
                  </a:extLst>
                </a:gridCol>
              </a:tblGrid>
              <a:tr h="2400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Janv - Mai 2025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Janv - Mai 2026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Evolution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Poids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252366398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CIME CENTRE EXTERIEUR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3 822 842 491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4 648 468 196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21.6%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74.6%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750972680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MBAM ET INOUBOU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84 156 056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46 220 193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-45.1%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0.7%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806548063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MBAM ET KIM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22 820 857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21 661 924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-5.1%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0.3%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595423493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MBANDJOCK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21 491 362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24 177 369</a:t>
                      </a:r>
                      <a:endParaRPr lang="en-US" sz="1600" b="1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12.5%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0.4%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864118335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MBANKOMO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#DIV/0!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0.0%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021867394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MFOU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448 160 474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314 085 134</a:t>
                      </a:r>
                      <a:endParaRPr lang="en-US" sz="16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-29.9%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5.0%</a:t>
                      </a:r>
                      <a:endParaRPr lang="en-US" sz="16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95537969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MONATELE</a:t>
                      </a:r>
                      <a:endParaRPr lang="en-US" sz="16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81 645 195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40 465 799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-50.4%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0.6%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651445301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NANGA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25 047 820</a:t>
                      </a:r>
                      <a:endParaRPr lang="en-US" sz="16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6 091 999</a:t>
                      </a:r>
                      <a:endParaRPr lang="en-US" sz="16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-75.7%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0.1%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67064491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NGOUMOU</a:t>
                      </a:r>
                      <a:endParaRPr lang="en-US" sz="16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126 275 195</a:t>
                      </a:r>
                      <a:endParaRPr lang="en-US" sz="16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51 322 911</a:t>
                      </a:r>
                      <a:endParaRPr lang="en-US" sz="16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-59.4%</a:t>
                      </a:r>
                      <a:endParaRPr lang="en-US" sz="16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0.8%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3072680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NKOABANG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#DIV/0!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793554728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NYONG ET KELLE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67 804 513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73 824 938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8.9%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1.2%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248886279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NYONG ET MFOUMOU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25 547 818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11 897 958</a:t>
                      </a:r>
                      <a:endParaRPr lang="en-US" sz="16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-53.4%</a:t>
                      </a:r>
                      <a:endParaRPr lang="en-US" sz="16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0.2%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354955853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NYONG ET SO'O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118 276 948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-100.0%</a:t>
                      </a:r>
                      <a:endParaRPr lang="en-US" sz="16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0.0%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274281690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OBALA</a:t>
                      </a:r>
                      <a:endParaRPr lang="en-US" sz="16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35 148 113</a:t>
                      </a:r>
                      <a:endParaRPr lang="en-US" sz="16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20 179 065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-42.6%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0.3%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30041920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SA'A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10 936 525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11 124 734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1.7%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0.2%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114504399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CFLP SOA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#DIV/0!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976004531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Coordination </a:t>
                      </a:r>
                      <a:r>
                        <a:rPr lang="en-US" sz="16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Régionale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723 155 280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946 853 905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30.9%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15.2%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391308618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 err="1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Recette</a:t>
                      </a: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u="none" strike="noStrike" dirty="0" err="1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Régionale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26 675 500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17 834 100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-33.1%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0.3%</a:t>
                      </a:r>
                      <a:endParaRPr lang="en-US" sz="1600" b="1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821352329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CRICEXT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5 639 984 147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6 234 208 225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10.5%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100.0%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213205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5094942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17"/>
          <p:cNvSpPr>
            <a:spLocks noGrp="1"/>
          </p:cNvSpPr>
          <p:nvPr>
            <p:ph type="sldNum" sz="quarter" idx="12"/>
          </p:nvPr>
        </p:nvSpPr>
        <p:spPr>
          <a:xfrm>
            <a:off x="11707818" y="6145048"/>
            <a:ext cx="479376" cy="476672"/>
          </a:xfrm>
          <a:solidFill>
            <a:schemeClr val="accent2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fld id="{B205AF0B-8912-4904-970B-A9F5335A4EA1}" type="slidenum">
              <a:rPr lang="fr-FR" sz="1600" b="1" smtClean="0">
                <a:solidFill>
                  <a:schemeClr val="bg1"/>
                </a:solidFill>
              </a:rPr>
              <a:pPr algn="ctr"/>
              <a:t>16</a:t>
            </a:fld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2495600" y="2492896"/>
            <a:ext cx="7344816" cy="175432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chemeClr val="accent2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Merci de votre </a:t>
            </a:r>
          </a:p>
          <a:p>
            <a:pPr algn="ctr"/>
            <a:r>
              <a:rPr lang="fr-F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chemeClr val="accent2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aimable attention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21720"/>
            <a:ext cx="12191996" cy="2362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2" descr="I:\dgi-banner-fr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25794" y="8753"/>
            <a:ext cx="10966206" cy="1043983"/>
          </a:xfrm>
          <a:prstGeom prst="rect">
            <a:avLst/>
          </a:prstGeom>
          <a:noFill/>
        </p:spPr>
      </p:pic>
      <p:pic>
        <p:nvPicPr>
          <p:cNvPr id="6" name="Image 5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5794" cy="10527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358841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976</TotalTime>
  <Words>2751</Words>
  <Application>Microsoft Office PowerPoint</Application>
  <PresentationFormat>Widescreen</PresentationFormat>
  <Paragraphs>1232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Garamond</vt:lpstr>
      <vt:lpstr>Times New Roman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marie van boxsom</dc:creator>
  <cp:lastModifiedBy>Serge Rostand Gouetna Sandio</cp:lastModifiedBy>
  <cp:revision>1184</cp:revision>
  <dcterms:created xsi:type="dcterms:W3CDTF">2016-11-23T15:58:18Z</dcterms:created>
  <dcterms:modified xsi:type="dcterms:W3CDTF">2026-07-05T22:31:52Z</dcterms:modified>
</cp:coreProperties>
</file>